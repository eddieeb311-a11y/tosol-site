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Тохиолдол 1 — Хуучин FACP дээр LoRaWAN нэмэх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Одоо байгаа систем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</a:rPr>
              <a:t>Барилгад аль хэдийн суурилуулсан FACP байгаа — солихгүйгээр LoRaWAN мэдэгдэл нэмж болно.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115568"/>
            <a:ext cx="2743200" cy="2926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115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Шаардагдах зүйлс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2880" y="1463040"/>
            <a:ext cx="2743200" cy="749808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48132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🔌 PC817 Optocoupler ×2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1719072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FACP relay-г ESP32-оос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тусгаарлах (galvanic isolation)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ФACP-ийн өндөр хүчдэл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MCU-г гэмтээхгүй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82880" y="2267712"/>
            <a:ext cx="2743200" cy="749808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228600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📡 Heltec LoRa 32 V3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" y="2523744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ESP32-S3 + SX1262 чип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AS923 давтамж дэмждэг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+22 dBm дээд чадал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Arduino IDE дэмжинэ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82880" y="3072384"/>
            <a:ext cx="2743200" cy="749808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" y="3090672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🔋 18650 × 2 + TP4056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" y="3328416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3.7V Li-ion батарей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ТП4056 цэнэглэгч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Xүйтэн (-30°C)-д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20-30% capacity буурна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182880" y="3877056"/>
            <a:ext cx="2743200" cy="749808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" y="3895344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📦 IP65 Корпус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" y="4133088"/>
            <a:ext cx="2596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Барилгын дотор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тоосноос хамгаалах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Humidity resistant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~20,000₮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063240" y="1115568"/>
            <a:ext cx="3017520" cy="2926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63240" y="11155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Холболтын схем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46120" y="1481328"/>
            <a:ext cx="2651760" cy="438912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46120" y="14813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71C1C"/>
                </a:solidFill>
              </a:rPr>
              <a:t>FACP Relay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B71C1C"/>
                </a:solidFill>
              </a:rPr>
              <a:t>(NO – COM)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297680" y="19202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2103120"/>
            <a:ext cx="2651760" cy="438912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10312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</a:rPr>
              <a:t>PC817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E65100"/>
                </a:solidFill>
              </a:rPr>
              <a:t>Optocoupler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97680" y="2542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46120" y="2724912"/>
            <a:ext cx="2651760" cy="438912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46120" y="2724912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ESP32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565C0"/>
                </a:solidFill>
              </a:rPr>
              <a:t>Pin 4 (INPUT)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297680" y="316382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▼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46120" y="3346704"/>
            <a:ext cx="2651760" cy="438912"/>
          </a:xfrm>
          <a:prstGeom prst="rect">
            <a:avLst/>
          </a:prstGeom>
          <a:solidFill>
            <a:srgbClr val="F3E5F5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334670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148C"/>
                </a:solidFill>
              </a:rPr>
              <a:t>SX1262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4A148C"/>
                </a:solidFill>
              </a:rPr>
              <a:t>LoRa TX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297680" y="37856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▼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246120" y="3968496"/>
            <a:ext cx="2651760" cy="438912"/>
          </a:xfrm>
          <a:prstGeom prst="rect">
            <a:avLst/>
          </a:prstGeom>
          <a:solidFill>
            <a:srgbClr val="E8F5E9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46120" y="3968496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6B3A"/>
                </a:solidFill>
              </a:rPr>
              <a:t>Gateway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B6B3A"/>
                </a:solidFill>
              </a:rPr>
              <a:t>RAK7268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17920" y="1115568"/>
            <a:ext cx="2743200" cy="2926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0" y="111556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Суурилуулалтын алхам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1463040"/>
            <a:ext cx="292608" cy="2926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37960" y="1463040"/>
            <a:ext cx="242316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14721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3A"/>
                </a:solidFill>
              </a:rPr>
              <a:t>FACP relay байршил олох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583680" y="166420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FACP-ийн NO-COM terminal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хаана байгааг техникийн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гарын авлагаас олно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217920" y="2121408"/>
            <a:ext cx="292608" cy="2926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2121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37960" y="2121408"/>
            <a:ext cx="242316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0" y="21305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3A"/>
                </a:solidFill>
              </a:rPr>
              <a:t>PC817 холбох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583680" y="232257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FACP NO→PC817 LED(+)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FACP COM→PC817 LED(-)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ESP32 3.3V→PC817 collector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ESP32 Pin4→PC817 emitter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6217920" y="2779776"/>
            <a:ext cx="292608" cy="2926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537960" y="2779776"/>
            <a:ext cx="242316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83680" y="27889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3A"/>
                </a:solidFill>
              </a:rPr>
              <a:t>Arduino код upload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583680" y="298094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LMIC library суулгах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DevEUI, AppKey оруулах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NODE_LAT, NODE_LON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flash-д тохируулах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6217920" y="3438144"/>
            <a:ext cx="292608" cy="2926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17920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537960" y="3438144"/>
            <a:ext cx="242316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83680" y="344728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3A"/>
                </a:solidFill>
              </a:rPr>
              <a:t>ChirpStack-т бүртгэх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583680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Device profile үүсгэх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OTAA join хийх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Application webhook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Telegram bot холбох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6217920" y="4096512"/>
            <a:ext cx="292608" cy="2926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17920" y="4096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537960" y="4096512"/>
            <a:ext cx="2423160" cy="603504"/>
          </a:xfrm>
          <a:prstGeom prst="rect">
            <a:avLst/>
          </a:prstGeom>
          <a:solidFill>
            <a:srgbClr val="E8F5E9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583680" y="41056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B6B3A"/>
                </a:solidFill>
              </a:rPr>
              <a:t>Туршилт хийх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6583680" y="429768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FACP relay-г simulation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switch-ээр идэвхжүүлж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Telegram мэдэгдэл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6C757D"/>
                </a:solidFill>
              </a:rPr>
              <a:t>ирэх эсэхийг шалгах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182880" y="4681728"/>
            <a:ext cx="2743200" cy="21945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880" y="4681728"/>
            <a:ext cx="8778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565C0"/>
                </a:solidFill>
              </a:rPr>
              <a:t>Нэмэлт өртөг: ~155,000₮ ($43) • FACP солихгүй • Суурилуулалт: ~2 цаг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EE2E6"/>
                </a:solidFill>
              </a:rPr>
              <a:t>Тохиолдол 1: Хуучин FACP  |  Relay dry contact  |  PC817 isolation  |  ESP32+SX1262  |  OTAA join  |  AS923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Тохиолдол 2 — Шинэ FACP + LoRaWAN нэгдсэн систем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Шинэ суурилуулалт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74320" y="749808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</a:rPr>
              <a:t>Шинэ барилга эсвэл FACP сольж байгаа тохиолдолд — эхнээсээ LoRaWAN-тай хамт төлөвлөнө.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115568"/>
            <a:ext cx="4160520" cy="292608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1115568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Хуучин арга (GSM/утас)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115568"/>
            <a:ext cx="4480560" cy="29260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11155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Шинэ арга (LoRaWAN нэгдсэн)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82880" y="1426464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" y="142646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Мэдэгдлийн арга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627632" y="1426464"/>
            <a:ext cx="2788920" cy="320040"/>
          </a:xfrm>
          <a:prstGeom prst="rect">
            <a:avLst/>
          </a:prstGeom>
          <a:solidFill>
            <a:srgbClr val="FFF8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73352" y="142646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1C1C"/>
                </a:solidFill>
              </a:rPr>
              <a:t>✗  GSM модем / утасны дуудлага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480560" y="1426464"/>
            <a:ext cx="448056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142646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6B3A"/>
                </a:solidFill>
              </a:rPr>
              <a:t>✓  LoRaWAN → Telegram/Dashboard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82880" y="1764792"/>
            <a:ext cx="141732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17647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Сарын зардал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27632" y="1764792"/>
            <a:ext cx="2788920" cy="320040"/>
          </a:xfrm>
          <a:prstGeom prst="rect">
            <a:avLst/>
          </a:prstGeom>
          <a:solidFill>
            <a:srgbClr val="FFF8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73352" y="17647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1C1C"/>
                </a:solidFill>
              </a:rPr>
              <a:t>✗  SIM карт ~20,000₮/сар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480560" y="1764792"/>
            <a:ext cx="448056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17647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6B3A"/>
                </a:solidFill>
              </a:rPr>
              <a:t>✓  Үгүй — ISM зурвас лицензгүй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182880" y="2103120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10312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Найдвартай байдал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1627632" y="2103120"/>
            <a:ext cx="2788920" cy="320040"/>
          </a:xfrm>
          <a:prstGeom prst="rect">
            <a:avLst/>
          </a:prstGeom>
          <a:solidFill>
            <a:srgbClr val="FFF8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73352" y="21031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1C1C"/>
                </a:solidFill>
              </a:rPr>
              <a:t>✗  GSM сүлжээ тасрахад алдагдана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480560" y="2103120"/>
            <a:ext cx="448056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2103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6B3A"/>
                </a:solidFill>
              </a:rPr>
              <a:t>✓  Dedicated LoRa сүлжээ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2880" y="2441448"/>
            <a:ext cx="141732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44144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Байршил мэдээлэл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627632" y="2441448"/>
            <a:ext cx="2788920" cy="320040"/>
          </a:xfrm>
          <a:prstGeom prst="rect">
            <a:avLst/>
          </a:prstGeom>
          <a:solidFill>
            <a:srgbClr val="FFF8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73352" y="2441448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1C1C"/>
                </a:solidFill>
              </a:rPr>
              <a:t>✗  Байхгүй — хаана гэдэг мэдэгддэггүй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80560" y="2441448"/>
            <a:ext cx="448056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26280" y="24414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6B3A"/>
                </a:solidFill>
              </a:rPr>
              <a:t>✓  GPS координат payload-д байна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82880" y="2779776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2779776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Нэг gateway хамрах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627632" y="2779776"/>
            <a:ext cx="2788920" cy="320040"/>
          </a:xfrm>
          <a:prstGeom prst="rect">
            <a:avLst/>
          </a:prstGeom>
          <a:solidFill>
            <a:srgbClr val="FFF8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73352" y="277977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1C1C"/>
                </a:solidFill>
              </a:rPr>
              <a:t>✗  Нэг SIM = нэг барилга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4480560" y="2779776"/>
            <a:ext cx="448056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26280" y="27797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6B3A"/>
                </a:solidFill>
              </a:rPr>
              <a:t>✓  Нэг gateway = 40+ барилга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82880" y="3118104"/>
            <a:ext cx="141732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8600" y="3118104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Батарейн нөөц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1627632" y="3118104"/>
            <a:ext cx="2788920" cy="320040"/>
          </a:xfrm>
          <a:prstGeom prst="rect">
            <a:avLst/>
          </a:prstGeom>
          <a:solidFill>
            <a:srgbClr val="FFF8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673352" y="311810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1C1C"/>
                </a:solidFill>
              </a:rPr>
              <a:t>✗  Байнгын цахилгаан шаардлагатай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480560" y="3118104"/>
            <a:ext cx="448056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26280" y="31181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6B3A"/>
                </a:solidFill>
              </a:rPr>
              <a:t>✓  2×18650 = ~2 жил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82880" y="3456432"/>
            <a:ext cx="14173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8600" y="345643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Суурилуулалт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627632" y="3456432"/>
            <a:ext cx="2788920" cy="320040"/>
          </a:xfrm>
          <a:prstGeom prst="rect">
            <a:avLst/>
          </a:prstGeom>
          <a:solidFill>
            <a:srgbClr val="FFF8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73352" y="345643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1C1C"/>
                </a:solidFill>
              </a:rPr>
              <a:t>✗  Кабель татах, SIM тохируулах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4480560" y="3456432"/>
            <a:ext cx="448056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26280" y="34564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6B3A"/>
                </a:solidFill>
              </a:rPr>
              <a:t>✓  Wireless, OTAA автомат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182880" y="3794760"/>
            <a:ext cx="1417320" cy="320040"/>
          </a:xfrm>
          <a:prstGeom prst="rect">
            <a:avLst/>
          </a:prstGeom>
          <a:solidFill>
            <a:srgbClr val="F5F5F5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28600" y="37947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A1A2E"/>
                </a:solidFill>
              </a:rPr>
              <a:t>ОБЕГ мэдэгдэл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627632" y="3794760"/>
            <a:ext cx="2788920" cy="320040"/>
          </a:xfrm>
          <a:prstGeom prst="rect">
            <a:avLst/>
          </a:prstGeom>
          <a:solidFill>
            <a:srgbClr val="FFF8F8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73352" y="3794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1C1C"/>
                </a:solidFill>
              </a:rPr>
              <a:t>✗  Хүний гараар залгах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4480560" y="3794760"/>
            <a:ext cx="448056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26280" y="3794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B6B3A"/>
                </a:solidFill>
              </a:rPr>
              <a:t>✓  Автомат Telegram + Dashboard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182880" y="4151376"/>
            <a:ext cx="8778240" cy="237744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82880" y="4151376"/>
            <a:ext cx="8778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Шинэ FACP сонгохдоо анхаарах зүйл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82880" y="4407408"/>
            <a:ext cx="1627632" cy="493776"/>
          </a:xfrm>
          <a:prstGeom prst="rect">
            <a:avLst/>
          </a:prstGeom>
          <a:solidFill>
            <a:srgbClr val="F3E5F5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28600" y="440740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148C"/>
                </a:solidFill>
              </a:rPr>
              <a:t>Relay гаралт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228600" y="457200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NO/NC-COM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dry contact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заавал байх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1938528" y="4407408"/>
            <a:ext cx="1627632" cy="493776"/>
          </a:xfrm>
          <a:prstGeom prst="rect">
            <a:avLst/>
          </a:prstGeom>
          <a:solidFill>
            <a:srgbClr val="F3E5F5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984248" y="440740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148C"/>
                </a:solidFill>
              </a:rPr>
              <a:t>Хүчдэл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1984248" y="457200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24VDC эсвэл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12VDC relay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PC817-тэй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нийцтэй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3694176" y="4407408"/>
            <a:ext cx="1627632" cy="493776"/>
          </a:xfrm>
          <a:prstGeom prst="rect">
            <a:avLst/>
          </a:prstGeom>
          <a:solidFill>
            <a:srgbClr val="F3E5F5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739896" y="440740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148C"/>
                </a:solidFill>
              </a:rPr>
              <a:t>Бүсийн тоо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3739896" y="457200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Байт 1 дахь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Zone bitmask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8 бүс хүртэл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дэмжинэ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5449824" y="4407408"/>
            <a:ext cx="1627632" cy="493776"/>
          </a:xfrm>
          <a:prstGeom prst="rect">
            <a:avLst/>
          </a:prstGeom>
          <a:solidFill>
            <a:srgbClr val="F3E5F5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495544" y="440740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148C"/>
                </a:solidFill>
              </a:rPr>
              <a:t>Стандарт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5495544" y="457200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EN54 эсвэл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MNS стандарт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Монгол зах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зээлд байдаг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7205472" y="4407408"/>
            <a:ext cx="1627632" cy="493776"/>
          </a:xfrm>
          <a:prstGeom prst="rect">
            <a:avLst/>
          </a:prstGeom>
          <a:solidFill>
            <a:srgbClr val="F3E5F5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251192" y="4407408"/>
            <a:ext cx="1536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A148C"/>
                </a:solidFill>
              </a:rPr>
              <a:t>Брэнд жишээ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251192" y="4572000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Notifier, EST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Honeywell, Bosch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Адрес болон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1A1A2E"/>
                </a:solidFill>
              </a:rPr>
              <a:t>конвенциональ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EE2E6"/>
                </a:solidFill>
              </a:rPr>
              <a:t>Тохиолдол 2: Шинэ FACP  |  Relay NO/NC-COM  |  24VDC  |  EN54 стандарт  |  LoRaWAN нэгдсэн  |  Зардал бага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5836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0"/>
            <a:ext cx="6858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Payload урсгал — FACP-ээс ОБЕГ хүртэл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040880" y="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00BCD4"/>
                </a:solidFill>
              </a:rPr>
              <a:t>17 байт • SF9 • 185мс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64592" y="74980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B71C1C"/>
                </a:solidFill>
              </a:rPr>
              <a:t>00:00.000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64592" y="969264"/>
            <a:ext cx="1389888" cy="438912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96926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FACP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Relay идэвхжинэ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4592" y="1426464"/>
            <a:ext cx="1389888" cy="1005840"/>
          </a:xfrm>
          <a:prstGeom prst="rect">
            <a:avLst/>
          </a:prstGeom>
          <a:solidFill>
            <a:srgbClr val="FFEBEE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1463040"/>
            <a:ext cx="13167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Утааны мэдрэгч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дохио өгнө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NO contact хаагдана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24VDC → PC817 LED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554480" y="1060704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74980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65100"/>
                </a:solidFill>
              </a:rPr>
              <a:t>00:00.005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645920" y="969264"/>
            <a:ext cx="1389888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45920" y="96926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ESP32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Interrupt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645920" y="1426464"/>
            <a:ext cx="1389888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82496" y="1463040"/>
            <a:ext cx="13167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GPIO pin LOW болно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debounce 50мс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alarm=true тэмдэглэнэ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Payload үүсгэнэ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35808" y="1060704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127248" y="74980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565C0"/>
                </a:solidFill>
              </a:rPr>
              <a:t>00:00.055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127248" y="969264"/>
            <a:ext cx="1389888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7248" y="96926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SX1262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LoRa TX эхлэнэ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27248" y="1426464"/>
            <a:ext cx="1389888" cy="1005840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63824" y="1463040"/>
            <a:ext cx="13167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17 байт payload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SF9, BW=125kHz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921.5MHz AS923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ToA = 185мс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17136" y="1060704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08576" y="74980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4A148C"/>
                </a:solidFill>
              </a:rPr>
              <a:t>00:00.240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608576" y="969264"/>
            <a:ext cx="1389888" cy="438912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08576" y="96926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RAK7268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Hүлээн авна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08576" y="1426464"/>
            <a:ext cx="1389888" cy="1005840"/>
          </a:xfrm>
          <a:prstGeom prst="rect">
            <a:avLst/>
          </a:prstGeom>
          <a:solidFill>
            <a:srgbClr val="F3E5F5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45152" y="1463040"/>
            <a:ext cx="13167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RSSI хэмжинэ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SNR бүртгэнэ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Metadata нэмнэ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Network server руу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98464" y="1060704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089904" y="74980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B6B3A"/>
                </a:solidFill>
              </a:rPr>
              <a:t>00:00.300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089904" y="969264"/>
            <a:ext cx="1389888" cy="438912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9904" y="96926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ChirpStack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Decode хийнэ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89904" y="1426464"/>
            <a:ext cx="1389888" cy="1005840"/>
          </a:xfrm>
          <a:prstGeom prst="rect">
            <a:avLst/>
          </a:prstGeom>
          <a:solidFill>
            <a:srgbClr val="E8F5E9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26480" y="1463040"/>
            <a:ext cx="13167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JS decoder ажиллана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lat/lon тооцоолно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Webhook trigger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JSON илгээнэ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79792" y="1060704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</a:rPr>
              <a:t>→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571232" y="749808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1A2E"/>
                </a:solidFill>
              </a:rPr>
              <a:t>00:00.500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571232" y="969264"/>
            <a:ext cx="1389888" cy="438912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969264"/>
            <a:ext cx="1389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ОБЕГ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Мэдэгдэл хүрнэ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71232" y="1426464"/>
            <a:ext cx="1389888" cy="1005840"/>
          </a:xfrm>
          <a:prstGeom prst="rect">
            <a:avLst/>
          </a:prstGeom>
          <a:solidFill>
            <a:srgbClr val="DEE2E6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607808" y="1463040"/>
            <a:ext cx="131673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Telegram мессеж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Grafana dashboard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Байршил цэгээр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A1A2E"/>
                </a:solidFill>
              </a:rPr>
              <a:t>Аварагч мэдэнэ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64592" y="2578608"/>
            <a:ext cx="8814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17 байт Payload — агаарт нисэх дарааллаар: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64592" y="2852928"/>
            <a:ext cx="512064" cy="47548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64592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0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64592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Src</a:t>
            </a:r>
            <a:endParaRPr lang="en-US" sz="650" dirty="0"/>
          </a:p>
        </p:txBody>
      </p:sp>
      <p:sp>
        <p:nvSpPr>
          <p:cNvPr id="45" name="Shape 43"/>
          <p:cNvSpPr/>
          <p:nvPr/>
        </p:nvSpPr>
        <p:spPr>
          <a:xfrm>
            <a:off x="683971" y="2852928"/>
            <a:ext cx="512064" cy="47548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3971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83971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Zone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1203350" y="2852928"/>
            <a:ext cx="512064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203350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203350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Sev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1722730" y="2852928"/>
            <a:ext cx="512064" cy="47548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722730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1722730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BatV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2242109" y="2852928"/>
            <a:ext cx="512064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42109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2242109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RSSI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2761488" y="2852928"/>
            <a:ext cx="512064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61488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2761488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Temp</a:t>
            </a:r>
            <a:endParaRPr lang="en-US" sz="650" dirty="0"/>
          </a:p>
        </p:txBody>
      </p:sp>
      <p:sp>
        <p:nvSpPr>
          <p:cNvPr id="60" name="Shape 58"/>
          <p:cNvSpPr/>
          <p:nvPr/>
        </p:nvSpPr>
        <p:spPr>
          <a:xfrm>
            <a:off x="3280867" y="2852928"/>
            <a:ext cx="512064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80867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280867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Seq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3800246" y="2852928"/>
            <a:ext cx="512064" cy="47548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00246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7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800246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Flag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4319626" y="2852928"/>
            <a:ext cx="512064" cy="47548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19626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8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4319626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Lat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H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4839005" y="2852928"/>
            <a:ext cx="512064" cy="47548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839005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9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839005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Lat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5358384" y="2852928"/>
            <a:ext cx="512064" cy="47548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358384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10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5358384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Lat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5877763" y="2852928"/>
            <a:ext cx="512064" cy="47548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77763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11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5877763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Lat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L</a:t>
            </a:r>
            <a:endParaRPr lang="en-US" sz="650" dirty="0"/>
          </a:p>
        </p:txBody>
      </p:sp>
      <p:sp>
        <p:nvSpPr>
          <p:cNvPr id="78" name="Shape 76"/>
          <p:cNvSpPr/>
          <p:nvPr/>
        </p:nvSpPr>
        <p:spPr>
          <a:xfrm>
            <a:off x="6397142" y="2852928"/>
            <a:ext cx="512064" cy="47548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397142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12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397142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Lon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H</a:t>
            </a:r>
            <a:endParaRPr lang="en-US" sz="650" dirty="0"/>
          </a:p>
        </p:txBody>
      </p:sp>
      <p:sp>
        <p:nvSpPr>
          <p:cNvPr id="81" name="Shape 79"/>
          <p:cNvSpPr/>
          <p:nvPr/>
        </p:nvSpPr>
        <p:spPr>
          <a:xfrm>
            <a:off x="6916522" y="2852928"/>
            <a:ext cx="512064" cy="47548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916522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13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6916522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Lon</a:t>
            </a:r>
            <a:endParaRPr lang="en-US" sz="650" dirty="0"/>
          </a:p>
        </p:txBody>
      </p:sp>
      <p:sp>
        <p:nvSpPr>
          <p:cNvPr id="84" name="Shape 82"/>
          <p:cNvSpPr/>
          <p:nvPr/>
        </p:nvSpPr>
        <p:spPr>
          <a:xfrm>
            <a:off x="7435901" y="2852928"/>
            <a:ext cx="512064" cy="47548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435901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14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7435901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Lon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7955280" y="2852928"/>
            <a:ext cx="512064" cy="475488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955280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15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7955280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Lon</a:t>
            </a:r>
            <a:endParaRPr lang="en-US" sz="650" dirty="0"/>
          </a:p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L</a:t>
            </a:r>
            <a:endParaRPr lang="en-US" sz="650" dirty="0"/>
          </a:p>
        </p:txBody>
      </p:sp>
      <p:sp>
        <p:nvSpPr>
          <p:cNvPr id="90" name="Shape 88"/>
          <p:cNvSpPr/>
          <p:nvPr/>
        </p:nvSpPr>
        <p:spPr>
          <a:xfrm>
            <a:off x="8474659" y="2852928"/>
            <a:ext cx="512064" cy="47548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474659" y="285292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16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8474659" y="3017520"/>
            <a:ext cx="512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FFFF"/>
                </a:solidFill>
              </a:rPr>
              <a:t>CRC</a:t>
            </a:r>
            <a:endParaRPr lang="en-US" sz="650" dirty="0"/>
          </a:p>
        </p:txBody>
      </p:sp>
      <p:sp>
        <p:nvSpPr>
          <p:cNvPr id="93" name="Shape 91"/>
          <p:cNvSpPr/>
          <p:nvPr/>
        </p:nvSpPr>
        <p:spPr>
          <a:xfrm>
            <a:off x="164592" y="3401568"/>
            <a:ext cx="1389888" cy="566928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64592" y="34015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185 мс</a:t>
            </a:r>
            <a:endParaRPr lang="en-US" sz="1800" dirty="0"/>
          </a:p>
        </p:txBody>
      </p:sp>
      <p:sp>
        <p:nvSpPr>
          <p:cNvPr id="95" name="Text 93"/>
          <p:cNvSpPr/>
          <p:nvPr/>
        </p:nvSpPr>
        <p:spPr>
          <a:xfrm>
            <a:off x="164592" y="371246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757D"/>
                </a:solidFill>
              </a:rPr>
              <a:t>Time on Air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C757D"/>
                </a:solidFill>
              </a:rPr>
              <a:t>(SF9, 17 байт)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1645920" y="3401568"/>
            <a:ext cx="1389888" cy="566928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645920" y="34015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~500 мс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1645920" y="371246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757D"/>
                </a:solidFill>
              </a:rPr>
              <a:t>FACP → ОБЕГ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C757D"/>
                </a:solidFill>
              </a:rPr>
              <a:t>нийт хугацаа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3127248" y="3401568"/>
            <a:ext cx="1389888" cy="566928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3127248" y="34015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0.51%</a:t>
            </a:r>
            <a:endParaRPr lang="en-US" sz="1800" dirty="0"/>
          </a:p>
        </p:txBody>
      </p:sp>
      <p:sp>
        <p:nvSpPr>
          <p:cNvPr id="101" name="Text 99"/>
          <p:cNvSpPr/>
          <p:nvPr/>
        </p:nvSpPr>
        <p:spPr>
          <a:xfrm>
            <a:off x="3127248" y="371246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757D"/>
                </a:solidFill>
              </a:rPr>
              <a:t>Duty cycle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C757D"/>
                </a:solidFill>
              </a:rPr>
              <a:t>(1% доор)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4608576" y="3401568"/>
            <a:ext cx="1389888" cy="566928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608576" y="34015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~18 dB</a:t>
            </a:r>
            <a:endParaRPr lang="en-US" sz="1800" dirty="0"/>
          </a:p>
        </p:txBody>
      </p:sp>
      <p:sp>
        <p:nvSpPr>
          <p:cNvPr id="104" name="Text 102"/>
          <p:cNvSpPr/>
          <p:nvPr/>
        </p:nvSpPr>
        <p:spPr>
          <a:xfrm>
            <a:off x="4608576" y="371246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757D"/>
                </a:solidFill>
              </a:rPr>
              <a:t>Link margin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C757D"/>
                </a:solidFill>
              </a:rPr>
              <a:t>(2км, SF9)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6089904" y="3401568"/>
            <a:ext cx="1389888" cy="566928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089904" y="34015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40+</a:t>
            </a:r>
            <a:endParaRPr lang="en-US" sz="1800" dirty="0"/>
          </a:p>
        </p:txBody>
      </p:sp>
      <p:sp>
        <p:nvSpPr>
          <p:cNvPr id="107" name="Text 105"/>
          <p:cNvSpPr/>
          <p:nvPr/>
        </p:nvSpPr>
        <p:spPr>
          <a:xfrm>
            <a:off x="6089904" y="371246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757D"/>
                </a:solidFill>
              </a:rPr>
              <a:t>Барилга/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C757D"/>
                </a:solidFill>
              </a:rPr>
              <a:t>Gateway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7571232" y="3401568"/>
            <a:ext cx="1389888" cy="566928"/>
          </a:xfrm>
          <a:prstGeom prst="rect">
            <a:avLst/>
          </a:prstGeom>
          <a:solidFill>
            <a:srgbClr val="E3F0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571232" y="3401568"/>
            <a:ext cx="13898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</a:rPr>
              <a:t>0.11м</a:t>
            </a:r>
            <a:endParaRPr lang="en-US" sz="1800" dirty="0"/>
          </a:p>
        </p:txBody>
      </p:sp>
      <p:sp>
        <p:nvSpPr>
          <p:cNvPr id="110" name="Text 108"/>
          <p:cNvSpPr/>
          <p:nvPr/>
        </p:nvSpPr>
        <p:spPr>
          <a:xfrm>
            <a:off x="7571232" y="3712464"/>
            <a:ext cx="13898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757D"/>
                </a:solidFill>
              </a:rPr>
              <a:t>GPS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6C757D"/>
                </a:solidFill>
              </a:rPr>
              <a:t>нарийвчлал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164592" y="4041648"/>
            <a:ext cx="4315968" cy="3474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28600" y="404164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📌 Хуучин FACP: PC817 нэм → ~155,000₮ нэмэлт → 2 цаг суурилуулалт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4663440" y="4041648"/>
            <a:ext cx="4315968" cy="347472"/>
          </a:xfrm>
          <a:prstGeom prst="rect">
            <a:avLst/>
          </a:prstGeom>
          <a:solidFill>
            <a:srgbClr val="1B6B3A"/>
          </a:solidFill>
          <a:ln w="12700">
            <a:solidFill>
              <a:srgbClr val="1B6B3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4727448" y="4041648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📌 Шинэ FACP: Relay NO/NC → LoRaWAN нэгдсэн → Сарын зардалгүй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EE2E6"/>
                </a:solidFill>
              </a:rPr>
              <a:t>FACP → PC817 → ESP32+SX1262 → RAK7268 → ChirpStack → Telegram/Grafana → ОБЕГ  |  AS923  |  SF9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2026-03-05T02:35:30Z</dcterms:created>
  <dcterms:modified xsi:type="dcterms:W3CDTF">2026-03-05T02:35:30Z</dcterms:modified>
</cp:coreProperties>
</file>