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image" Target="../media/image-2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37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32F2F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60520" y="548640"/>
            <a:ext cx="822960" cy="8229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31520" y="1554480"/>
            <a:ext cx="76809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LoRaWAN-д суурилсан</a:t>
            </a:r>
            <a:endParaRPr lang="en-US" sz="30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Барилгын галын дохиоллын</a:t>
            </a:r>
            <a:endParaRPr lang="en-US" sz="30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алсын мэдээллийн систем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1097280" y="3291840"/>
            <a:ext cx="6949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FACP-аас ОБЕГ руу LoRaWAN сүлжээгээр дохио дамжуулах систем:</a:t>
            </a:r>
            <a:endParaRPr lang="en-US" sz="14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Spreading Factor-ийн нөлөөний судалгаа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3200400" y="4297680"/>
            <a:ext cx="2743200" cy="22860"/>
          </a:xfrm>
          <a:prstGeom prst="rect">
            <a:avLst/>
          </a:prstGeom>
          <a:solidFill>
            <a:srgbClr val="42A5F5"/>
          </a:solidFill>
          <a:ln/>
        </p:spPr>
      </p:sp>
      <p:sp>
        <p:nvSpPr>
          <p:cNvPr id="7" name="Text 4"/>
          <p:cNvSpPr/>
          <p:nvPr/>
        </p:nvSpPr>
        <p:spPr>
          <a:xfrm>
            <a:off x="914400" y="443484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100" b="1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Зохиогч: Eddie</a:t>
            </a:r>
            <a:endParaRPr lang="en-US" sz="11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F.CN342 RF Transceiver System  |  Багш: Ass. Prof. J.Javzansuren</a:t>
            </a:r>
            <a:endParaRPr lang="en-US" sz="11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ШУТИС (MUST)  |  2026 оны 2-р сар  |  Улаанбаатар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1A237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237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АГУУЛГА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822960"/>
            <a:ext cx="1463040" cy="32004"/>
          </a:xfrm>
          <a:prstGeom prst="rect">
            <a:avLst/>
          </a:prstGeom>
          <a:solidFill>
            <a:srgbClr val="D32F2F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179576"/>
            <a:ext cx="384048" cy="384048"/>
          </a:xfrm>
          <a:prstGeom prst="ellipse">
            <a:avLst/>
          </a:prstGeom>
          <a:solidFill>
            <a:srgbClr val="1A237E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1795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2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7280" y="1207008"/>
            <a:ext cx="310896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554480" y="11430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Оршил ба Асуудал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1554480" y="139903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Судалгааны суурь, зорилго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548640" y="1773936"/>
            <a:ext cx="384048" cy="384048"/>
          </a:xfrm>
          <a:prstGeom prst="ellipse">
            <a:avLst/>
          </a:prstGeom>
          <a:solidFill>
            <a:srgbClr val="1A237E"/>
          </a:solidFill>
          <a:ln/>
        </p:spPr>
      </p:sp>
      <p:sp>
        <p:nvSpPr>
          <p:cNvPr id="11" name="Text 8"/>
          <p:cNvSpPr/>
          <p:nvPr/>
        </p:nvSpPr>
        <p:spPr>
          <a:xfrm>
            <a:off x="548640" y="17739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200" dirty="0"/>
          </a:p>
        </p:txBody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801368"/>
            <a:ext cx="310896" cy="310896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554480" y="17373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Онолын үндэс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1554480" y="199339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LoRa CSS, SF, Link Budget</a:t>
            </a:r>
            <a:endParaRPr lang="en-US" sz="1000" dirty="0"/>
          </a:p>
        </p:txBody>
      </p:sp>
      <p:sp>
        <p:nvSpPr>
          <p:cNvPr id="15" name="Shape 11"/>
          <p:cNvSpPr/>
          <p:nvPr/>
        </p:nvSpPr>
        <p:spPr>
          <a:xfrm>
            <a:off x="548640" y="2368296"/>
            <a:ext cx="384048" cy="384048"/>
          </a:xfrm>
          <a:prstGeom prst="ellipse">
            <a:avLst/>
          </a:prstGeom>
          <a:solidFill>
            <a:srgbClr val="1A237E"/>
          </a:solidFill>
          <a:ln/>
        </p:spPr>
      </p:sp>
      <p:sp>
        <p:nvSpPr>
          <p:cNvPr id="16" name="Text 12"/>
          <p:cNvSpPr/>
          <p:nvPr/>
        </p:nvSpPr>
        <p:spPr>
          <a:xfrm>
            <a:off x="548640" y="23682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200" dirty="0"/>
          </a:p>
        </p:txBody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0" y="2395728"/>
            <a:ext cx="310896" cy="310896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554480" y="23317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Системийн дизайн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1554480" y="258775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Архитектур, payload, hardware</a:t>
            </a:r>
            <a:endParaRPr lang="en-US" sz="1000" dirty="0"/>
          </a:p>
        </p:txBody>
      </p:sp>
      <p:sp>
        <p:nvSpPr>
          <p:cNvPr id="20" name="Shape 15"/>
          <p:cNvSpPr/>
          <p:nvPr/>
        </p:nvSpPr>
        <p:spPr>
          <a:xfrm>
            <a:off x="548640" y="2962656"/>
            <a:ext cx="384048" cy="384048"/>
          </a:xfrm>
          <a:prstGeom prst="ellipse">
            <a:avLst/>
          </a:prstGeom>
          <a:solidFill>
            <a:srgbClr val="1A237E"/>
          </a:solidFill>
          <a:ln/>
        </p:spPr>
      </p:sp>
      <p:sp>
        <p:nvSpPr>
          <p:cNvPr id="21" name="Text 16"/>
          <p:cNvSpPr/>
          <p:nvPr/>
        </p:nvSpPr>
        <p:spPr>
          <a:xfrm>
            <a:off x="548640" y="29626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200" dirty="0"/>
          </a:p>
        </p:txBody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7280" y="2990088"/>
            <a:ext cx="310896" cy="310896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1554480" y="29260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Хэрэгжүүлэлт</a:t>
            </a:r>
            <a:endParaRPr lang="en-US" sz="1400" dirty="0"/>
          </a:p>
        </p:txBody>
      </p:sp>
      <p:sp>
        <p:nvSpPr>
          <p:cNvPr id="24" name="Text 18"/>
          <p:cNvSpPr/>
          <p:nvPr/>
        </p:nvSpPr>
        <p:spPr>
          <a:xfrm>
            <a:off x="1554480" y="318211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Программ, сервер, мэдэгдэл</a:t>
            </a:r>
            <a:endParaRPr lang="en-US" sz="1000" dirty="0"/>
          </a:p>
        </p:txBody>
      </p:sp>
      <p:sp>
        <p:nvSpPr>
          <p:cNvPr id="25" name="Shape 19"/>
          <p:cNvSpPr/>
          <p:nvPr/>
        </p:nvSpPr>
        <p:spPr>
          <a:xfrm>
            <a:off x="548640" y="3557016"/>
            <a:ext cx="384048" cy="384048"/>
          </a:xfrm>
          <a:prstGeom prst="ellipse">
            <a:avLst/>
          </a:prstGeom>
          <a:solidFill>
            <a:srgbClr val="1A237E"/>
          </a:solidFill>
          <a:ln/>
        </p:spPr>
      </p:sp>
      <p:sp>
        <p:nvSpPr>
          <p:cNvPr id="26" name="Text 20"/>
          <p:cNvSpPr/>
          <p:nvPr/>
        </p:nvSpPr>
        <p:spPr>
          <a:xfrm>
            <a:off x="548640" y="35570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200" dirty="0"/>
          </a:p>
        </p:txBody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97280" y="3584448"/>
            <a:ext cx="310896" cy="310896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1554480" y="35204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Туршилтын төлөвлөгөө</a:t>
            </a:r>
            <a:endParaRPr lang="en-US" sz="1400" dirty="0"/>
          </a:p>
        </p:txBody>
      </p:sp>
      <p:sp>
        <p:nvSpPr>
          <p:cNvPr id="29" name="Text 22"/>
          <p:cNvSpPr/>
          <p:nvPr/>
        </p:nvSpPr>
        <p:spPr>
          <a:xfrm>
            <a:off x="1554480" y="377647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Арга зүй, хүлээгдэх үр дүн</a:t>
            </a:r>
            <a:endParaRPr lang="en-US" sz="1000" dirty="0"/>
          </a:p>
        </p:txBody>
      </p:sp>
      <p:sp>
        <p:nvSpPr>
          <p:cNvPr id="30" name="Shape 23"/>
          <p:cNvSpPr/>
          <p:nvPr/>
        </p:nvSpPr>
        <p:spPr>
          <a:xfrm>
            <a:off x="548640" y="4151376"/>
            <a:ext cx="384048" cy="384048"/>
          </a:xfrm>
          <a:prstGeom prst="ellipse">
            <a:avLst/>
          </a:prstGeom>
          <a:solidFill>
            <a:srgbClr val="1A237E"/>
          </a:solidFill>
          <a:ln/>
        </p:spPr>
      </p:sp>
      <p:sp>
        <p:nvSpPr>
          <p:cNvPr id="31" name="Text 24"/>
          <p:cNvSpPr/>
          <p:nvPr/>
        </p:nvSpPr>
        <p:spPr>
          <a:xfrm>
            <a:off x="548640" y="41513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200" dirty="0"/>
          </a:p>
        </p:txBody>
      </p:sp>
      <p:pic>
        <p:nvPicPr>
          <p:cNvPr id="3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97280" y="4178808"/>
            <a:ext cx="310896" cy="310896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1554480" y="4114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Дүгнэлт ба санал</a:t>
            </a:r>
            <a:endParaRPr lang="en-US" sz="1400" dirty="0"/>
          </a:p>
        </p:txBody>
      </p:sp>
      <p:sp>
        <p:nvSpPr>
          <p:cNvPr id="34" name="Text 26"/>
          <p:cNvSpPr/>
          <p:nvPr/>
        </p:nvSpPr>
        <p:spPr>
          <a:xfrm>
            <a:off x="1554480" y="437083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Үр дүн, цаашдын чиглэл</a:t>
            </a:r>
            <a:endParaRPr lang="en-US" sz="1000" dirty="0"/>
          </a:p>
        </p:txBody>
      </p:sp>
      <p:pic>
        <p:nvPicPr>
          <p:cNvPr id="35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60720" y="1005840"/>
            <a:ext cx="2926080" cy="2194560"/>
          </a:xfrm>
          <a:prstGeom prst="rect">
            <a:avLst/>
          </a:prstGeom>
        </p:spPr>
      </p:pic>
      <p:pic>
        <p:nvPicPr>
          <p:cNvPr id="36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126480" y="3017520"/>
            <a:ext cx="2286000" cy="173736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D32F2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237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АСУУДЛЫН ТОДОРХОЙЛОЛТ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822960"/>
            <a:ext cx="2011680" cy="32004"/>
          </a:xfrm>
          <a:prstGeom prst="rect">
            <a:avLst/>
          </a:prstGeom>
          <a:solidFill>
            <a:srgbClr val="D32F2F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051560"/>
            <a:ext cx="2606040" cy="1371600"/>
          </a:xfrm>
          <a:prstGeom prst="rect">
            <a:avLst/>
          </a:prstGeom>
          <a:solidFill>
            <a:srgbClr val="E3F2FD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7200" y="1097280"/>
            <a:ext cx="2606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D32F2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500+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457200" y="1783080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жилд галын дуудлага</a:t>
            </a:r>
            <a:endParaRPr lang="en-US" sz="10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Улаанбаатар хотод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291840" y="1051560"/>
            <a:ext cx="2606040" cy="1371600"/>
          </a:xfrm>
          <a:prstGeom prst="rect">
            <a:avLst/>
          </a:prstGeom>
          <a:solidFill>
            <a:srgbClr val="FFF3E0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291840" y="1097280"/>
            <a:ext cx="2606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57F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40%</a:t>
            </a:r>
            <a:endParaRPr lang="en-US" sz="4400" dirty="0"/>
          </a:p>
        </p:txBody>
      </p:sp>
      <p:sp>
        <p:nvSpPr>
          <p:cNvPr id="10" name="Text 8"/>
          <p:cNvSpPr/>
          <p:nvPr/>
        </p:nvSpPr>
        <p:spPr>
          <a:xfrm>
            <a:off x="3291840" y="1783080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гэр хорооллын</a:t>
            </a:r>
            <a:endParaRPr lang="en-US" sz="10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галын дуудлага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126480" y="1051560"/>
            <a:ext cx="2606040" cy="1371600"/>
          </a:xfrm>
          <a:prstGeom prst="rect">
            <a:avLst/>
          </a:prstGeom>
          <a:solidFill>
            <a:srgbClr val="FFEBEE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126480" y="1097280"/>
            <a:ext cx="2606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D32F2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10-20</a:t>
            </a:r>
            <a:endParaRPr lang="en-US" sz="4400" dirty="0"/>
          </a:p>
        </p:txBody>
      </p:sp>
      <p:sp>
        <p:nvSpPr>
          <p:cNvPr id="13" name="Text 11"/>
          <p:cNvSpPr/>
          <p:nvPr/>
        </p:nvSpPr>
        <p:spPr>
          <a:xfrm>
            <a:off x="6126480" y="1783080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минут алдагдана</a:t>
            </a:r>
            <a:endParaRPr lang="en-US" sz="10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ОБЕГ-д мэдэгдэл хүрэхэд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57200" y="2697480"/>
            <a:ext cx="8229600" cy="530352"/>
          </a:xfrm>
          <a:prstGeom prst="rect">
            <a:avLst/>
          </a:prstGeom>
          <a:solidFill>
            <a:srgbClr val="F5F7FA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pic>
        <p:nvPicPr>
          <p:cNvPr id="1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2788920"/>
            <a:ext cx="329184" cy="329184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1143000" y="2697480"/>
            <a:ext cx="7315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FACP суурилуулсан ч ОБЕГ руу шууд мэдэгдэл очдоггүй — зөвхөн байрны дотор сирен дуугарна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457200" y="3337560"/>
            <a:ext cx="8229600" cy="530352"/>
          </a:xfrm>
          <a:prstGeom prst="rect">
            <a:avLst/>
          </a:prstGeom>
          <a:solidFill>
            <a:srgbClr val="F5F7FA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3429000"/>
            <a:ext cx="329184" cy="329184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1143000" y="3337560"/>
            <a:ext cx="7315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GSM/4G модем: сар бүрийн төлбөртэй, сүлжээ тасрах эрсдэлтэй</a:t>
            </a:r>
            <a:endParaRPr lang="en-US" sz="1200" dirty="0"/>
          </a:p>
        </p:txBody>
      </p:sp>
      <p:sp>
        <p:nvSpPr>
          <p:cNvPr id="20" name="Shape 16"/>
          <p:cNvSpPr/>
          <p:nvPr/>
        </p:nvSpPr>
        <p:spPr>
          <a:xfrm>
            <a:off x="457200" y="3977640"/>
            <a:ext cx="8229600" cy="530352"/>
          </a:xfrm>
          <a:prstGeom prst="rect">
            <a:avLst/>
          </a:prstGeom>
          <a:solidFill>
            <a:srgbClr val="F5F7FA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4069080"/>
            <a:ext cx="329184" cy="329184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1143000" y="3977640"/>
            <a:ext cx="7315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LoRa-ийн SF параметр Улаанбаатарын хүйтэн, саад ихтэй орчинд судлагдаагүй</a:t>
            </a:r>
            <a:endParaRPr lang="en-US" sz="1200" dirty="0"/>
          </a:p>
        </p:txBody>
      </p:sp>
      <p:sp>
        <p:nvSpPr>
          <p:cNvPr id="23" name="Shape 18"/>
          <p:cNvSpPr/>
          <p:nvPr/>
        </p:nvSpPr>
        <p:spPr>
          <a:xfrm>
            <a:off x="457200" y="4572000"/>
            <a:ext cx="8229600" cy="365760"/>
          </a:xfrm>
          <a:prstGeom prst="rect">
            <a:avLst/>
          </a:prstGeom>
          <a:solidFill>
            <a:srgbClr val="E8F5E9"/>
          </a:solidFill>
          <a:ln/>
        </p:spPr>
      </p:sp>
      <p:sp>
        <p:nvSpPr>
          <p:cNvPr id="24" name="Text 19"/>
          <p:cNvSpPr/>
          <p:nvPr/>
        </p:nvSpPr>
        <p:spPr>
          <a:xfrm>
            <a:off x="640080" y="457200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Шийдэл: FACP → LoRaWAN → ОБЕГ автомат мэдэгдлийн систем + SF оновчлол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1A237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237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LoRa ФИЗИК ДАВХАРГА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749808"/>
            <a:ext cx="1828800" cy="32004"/>
          </a:xfrm>
          <a:prstGeom prst="rect">
            <a:avLst/>
          </a:prstGeom>
          <a:solidFill>
            <a:srgbClr val="D32F2F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960120"/>
            <a:ext cx="5029200" cy="3931920"/>
          </a:xfrm>
          <a:prstGeom prst="rect">
            <a:avLst/>
          </a:prstGeom>
          <a:solidFill>
            <a:srgbClr val="F5F7FA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40080" y="1005840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Chirp Spread Spectrum (CSS) — Гол томьёонууд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" y="1325880"/>
            <a:ext cx="4663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Semtech CSS модуляц | ISM AS923 (920–923 MHz) | Лицензгүй</a:t>
            </a:r>
            <a:endParaRPr lang="en-US" sz="10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645920"/>
            <a:ext cx="2926080" cy="502920"/>
          </a:xfrm>
          <a:prstGeom prst="rect">
            <a:avLst/>
          </a:prstGeom>
        </p:spPr>
      </p:pic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2194560"/>
            <a:ext cx="2926080" cy="502920"/>
          </a:xfrm>
          <a:prstGeom prst="rect">
            <a:avLst/>
          </a:prstGeom>
        </p:spPr>
      </p:pic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2743200"/>
            <a:ext cx="3474720" cy="502920"/>
          </a:xfrm>
          <a:prstGeom prst="rect">
            <a:avLst/>
          </a:prstGeom>
        </p:spPr>
      </p:pic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3291840"/>
            <a:ext cx="4389120" cy="502920"/>
          </a:xfrm>
          <a:prstGeom prst="rect">
            <a:avLst/>
          </a:prstGeom>
        </p:spPr>
      </p:pic>
      <p:pic>
        <p:nvPicPr>
          <p:cNvPr id="1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" y="3840480"/>
            <a:ext cx="2926080" cy="502920"/>
          </a:xfrm>
          <a:prstGeom prst="rect">
            <a:avLst/>
          </a:prstGeom>
        </p:spPr>
      </p:pic>
      <p:sp>
        <p:nvSpPr>
          <p:cNvPr id="13" name="Shape 6"/>
          <p:cNvSpPr/>
          <p:nvPr/>
        </p:nvSpPr>
        <p:spPr>
          <a:xfrm>
            <a:off x="5669280" y="960120"/>
            <a:ext cx="3108960" cy="3931920"/>
          </a:xfrm>
          <a:prstGeom prst="rect">
            <a:avLst/>
          </a:prstGeom>
          <a:solidFill>
            <a:srgbClr val="E3F2FD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Text 7"/>
          <p:cNvSpPr/>
          <p:nvPr/>
        </p:nvSpPr>
        <p:spPr>
          <a:xfrm>
            <a:off x="5806440" y="100584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SF тус бүрийн параметр</a:t>
            </a:r>
            <a:endParaRPr lang="en-US" sz="12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806440" y="1417320"/>
          <a:ext cx="2834640" cy="2103120"/>
        </p:xfrm>
        <a:graphic>
          <a:graphicData uri="http://schemas.openxmlformats.org/drawingml/2006/table">
            <a:tbl>
              <a:tblPr/>
              <a:tblGrid>
                <a:gridCol w="457200"/>
                <a:gridCol w="731520"/>
                <a:gridCol w="731520"/>
                <a:gridCol w="914400"/>
              </a:tblGrid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SF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SNR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Sens.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Rate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63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63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-7.5 dB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63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-123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63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5,470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63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63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-10.0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63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-126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63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3,125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32F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63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-12.5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63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-129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63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1,758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63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63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-15.0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63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-132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63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977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63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63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-17.5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63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-134.5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63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440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63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63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-20.0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63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-137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63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pic>
        <p:nvPicPr>
          <p:cNvPr id="1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35040" y="3383280"/>
            <a:ext cx="2377440" cy="13716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1A237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237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SPREADING FACTOR (SF) НӨЛӨӨ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749808"/>
            <a:ext cx="2377440" cy="32004"/>
          </a:xfrm>
          <a:prstGeom prst="rect">
            <a:avLst/>
          </a:prstGeom>
          <a:solidFill>
            <a:srgbClr val="D32F2F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960120"/>
            <a:ext cx="3931920" cy="1371600"/>
          </a:xfrm>
          <a:prstGeom prst="rect">
            <a:avLst/>
          </a:prstGeom>
          <a:solidFill>
            <a:srgbClr val="E8F5E9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005840"/>
            <a:ext cx="274320" cy="2743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100584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SF өсөхийн давуу тал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594360" y="1371600"/>
            <a:ext cx="3611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Receiver sensitivity сайжирна → хол зай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SNR шаардлага буурна → саад тэсвэр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Шуугиан ихтэй орчинд найдвартай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4754880" y="960120"/>
            <a:ext cx="3931920" cy="1371600"/>
          </a:xfrm>
          <a:prstGeom prst="rect">
            <a:avLst/>
          </a:prstGeom>
          <a:solidFill>
            <a:srgbClr val="FFEBEE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2040" y="1005840"/>
            <a:ext cx="274320" cy="27432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212080" y="100584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32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SF өсөхийн сул тал</a:t>
            </a:r>
            <a:endParaRPr lang="en-US" sz="1200" dirty="0"/>
          </a:p>
        </p:txBody>
      </p:sp>
      <p:sp>
        <p:nvSpPr>
          <p:cNvPr id="12" name="Text 8"/>
          <p:cNvSpPr/>
          <p:nvPr/>
        </p:nvSpPr>
        <p:spPr>
          <a:xfrm>
            <a:off x="4892040" y="1371600"/>
            <a:ext cx="3611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rate буурна → payload удаан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on Air нэмэгдэнэ → батарей ↑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Duty cycle хязгаарт илүү их зарцуулна</a:t>
            </a:r>
            <a:endParaRPr lang="en-US" sz="1050" dirty="0"/>
          </a:p>
        </p:txBody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468880"/>
            <a:ext cx="8595360" cy="256032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1A237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237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LINK BUDGET ТООЦОО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749808"/>
            <a:ext cx="1737360" cy="32004"/>
          </a:xfrm>
          <a:prstGeom prst="rect">
            <a:avLst/>
          </a:prstGeom>
          <a:solidFill>
            <a:srgbClr val="D32F2F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960120"/>
            <a:ext cx="5029200" cy="640080"/>
          </a:xfrm>
          <a:prstGeom prst="rect">
            <a:avLst/>
          </a:prstGeom>
          <a:solidFill>
            <a:srgbClr val="E3F2FD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987552"/>
            <a:ext cx="4846320" cy="54864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457200" y="1737360"/>
            <a:ext cx="5029200" cy="640080"/>
          </a:xfrm>
          <a:prstGeom prst="rect">
            <a:avLst/>
          </a:prstGeom>
          <a:solidFill>
            <a:srgbClr val="FFF3E0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764792"/>
            <a:ext cx="4846320" cy="548640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5669280" y="960120"/>
            <a:ext cx="3108960" cy="1417320"/>
          </a:xfrm>
          <a:prstGeom prst="rect">
            <a:avLst/>
          </a:prstGeom>
          <a:solidFill>
            <a:srgbClr val="F5F7FA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Text 6"/>
          <p:cNvSpPr/>
          <p:nvPr/>
        </p:nvSpPr>
        <p:spPr>
          <a:xfrm>
            <a:off x="5806440" y="1005840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Системийн параметрүүд</a:t>
            </a:r>
            <a:endParaRPr lang="en-US" sz="1100" dirty="0"/>
          </a:p>
        </p:txBody>
      </p:sp>
      <p:sp>
        <p:nvSpPr>
          <p:cNvPr id="11" name="Text 7"/>
          <p:cNvSpPr/>
          <p:nvPr/>
        </p:nvSpPr>
        <p:spPr>
          <a:xfrm>
            <a:off x="5806440" y="1280160"/>
            <a:ext cx="2834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Tx: +14 dBm (AS923)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Tx Ant: +2.15 dBi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Rx Ant: +3 dBi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Cable loss: ~1 dB</a:t>
            </a:r>
            <a:endParaRPr lang="en-US" sz="1000" dirty="0"/>
          </a:p>
        </p:txBody>
      </p:sp>
      <p:sp>
        <p:nvSpPr>
          <p:cNvPr id="12" name="Text 8"/>
          <p:cNvSpPr/>
          <p:nvPr/>
        </p:nvSpPr>
        <p:spPr>
          <a:xfrm>
            <a:off x="457200" y="25603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Улаанбаатарын орчин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457200" y="2834640"/>
            <a:ext cx="2606040" cy="685800"/>
          </a:xfrm>
          <a:prstGeom prst="rect">
            <a:avLst/>
          </a:prstGeom>
          <a:solidFill>
            <a:srgbClr val="FFEBEE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4" name="Text 10"/>
          <p:cNvSpPr/>
          <p:nvPr/>
        </p:nvSpPr>
        <p:spPr>
          <a:xfrm>
            <a:off x="457200" y="2852928"/>
            <a:ext cx="2606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32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Хот дотор</a:t>
            </a:r>
            <a:endParaRPr lang="en-US" sz="1000" dirty="0"/>
          </a:p>
        </p:txBody>
      </p:sp>
      <p:sp>
        <p:nvSpPr>
          <p:cNvPr id="15" name="Text 11"/>
          <p:cNvSpPr/>
          <p:nvPr/>
        </p:nvSpPr>
        <p:spPr>
          <a:xfrm>
            <a:off x="457200" y="3081528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≈ 3.3–3.8</a:t>
            </a:r>
            <a:endParaRPr lang="en-US" sz="9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σ ≈ 7–10 dB</a:t>
            </a:r>
            <a:endParaRPr lang="en-US" sz="900" dirty="0"/>
          </a:p>
        </p:txBody>
      </p:sp>
      <p:sp>
        <p:nvSpPr>
          <p:cNvPr id="16" name="Shape 12"/>
          <p:cNvSpPr/>
          <p:nvPr/>
        </p:nvSpPr>
        <p:spPr>
          <a:xfrm>
            <a:off x="3291840" y="2834640"/>
            <a:ext cx="2606040" cy="685800"/>
          </a:xfrm>
          <a:prstGeom prst="rect">
            <a:avLst/>
          </a:prstGeom>
          <a:solidFill>
            <a:srgbClr val="E3F2FD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7" name="Text 13"/>
          <p:cNvSpPr/>
          <p:nvPr/>
        </p:nvSpPr>
        <p:spPr>
          <a:xfrm>
            <a:off x="3291840" y="2852928"/>
            <a:ext cx="2606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Гэр хороолол</a:t>
            </a:r>
            <a:endParaRPr lang="en-US" sz="1000" dirty="0"/>
          </a:p>
        </p:txBody>
      </p:sp>
      <p:sp>
        <p:nvSpPr>
          <p:cNvPr id="18" name="Text 14"/>
          <p:cNvSpPr/>
          <p:nvPr/>
        </p:nvSpPr>
        <p:spPr>
          <a:xfrm>
            <a:off x="3291840" y="3081528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≈ 2.8–3.3</a:t>
            </a:r>
            <a:endParaRPr lang="en-US" sz="9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σ ≈ 5–8 dB</a:t>
            </a:r>
            <a:endParaRPr lang="en-US" sz="900" dirty="0"/>
          </a:p>
        </p:txBody>
      </p:sp>
      <p:sp>
        <p:nvSpPr>
          <p:cNvPr id="19" name="Shape 15"/>
          <p:cNvSpPr/>
          <p:nvPr/>
        </p:nvSpPr>
        <p:spPr>
          <a:xfrm>
            <a:off x="6126480" y="2834640"/>
            <a:ext cx="2606040" cy="685800"/>
          </a:xfrm>
          <a:prstGeom prst="rect">
            <a:avLst/>
          </a:prstGeom>
          <a:solidFill>
            <a:srgbClr val="E8F5E9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0" name="Text 16"/>
          <p:cNvSpPr/>
          <p:nvPr/>
        </p:nvSpPr>
        <p:spPr>
          <a:xfrm>
            <a:off x="6126480" y="2852928"/>
            <a:ext cx="2606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Нээлттэй</a:t>
            </a:r>
            <a:endParaRPr lang="en-US" sz="1000" dirty="0"/>
          </a:p>
        </p:txBody>
      </p:sp>
      <p:sp>
        <p:nvSpPr>
          <p:cNvPr id="21" name="Text 17"/>
          <p:cNvSpPr/>
          <p:nvPr/>
        </p:nvSpPr>
        <p:spPr>
          <a:xfrm>
            <a:off x="6126480" y="3081528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≈ 2.0–2.5</a:t>
            </a:r>
            <a:endParaRPr lang="en-US" sz="9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σ ≈ 3–5 dB</a:t>
            </a:r>
            <a:endParaRPr lang="en-US" sz="9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3703320"/>
          <a:ext cx="8229600" cy="1188720"/>
        </p:xfrm>
        <a:graphic>
          <a:graphicData uri="http://schemas.openxmlformats.org/drawingml/2006/table">
            <a:tbl>
              <a:tblPr/>
              <a:tblGrid>
                <a:gridCol w="548640"/>
                <a:gridCol w="1280160"/>
                <a:gridCol w="1371600"/>
                <a:gridCol w="1371600"/>
                <a:gridCol w="1645920"/>
                <a:gridCol w="2011680"/>
              </a:tblGrid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SF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Sensitivity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Link Budget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Хот (n=3.5)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Гэр хороолол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Margin @2км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</a:tr>
              <a:tr h="2103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63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63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-123 dBm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63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141.15 dB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63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~2.5 км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63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~5.0 км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63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 dB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D32F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63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-129 dBm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63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147.15 dB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63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~4.0 км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63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~8.0 км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E7D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 dB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03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63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63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-132 dBm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63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150.15 dB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63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~5.0 км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63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~10 км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63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 dB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03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63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63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-137 dBm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63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155.15 dB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63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~7.5 км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63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~15 км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63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 dB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3" name="Shape 18"/>
          <p:cNvSpPr/>
          <p:nvPr/>
        </p:nvSpPr>
        <p:spPr>
          <a:xfrm>
            <a:off x="457200" y="4800600"/>
            <a:ext cx="8229600" cy="274320"/>
          </a:xfrm>
          <a:prstGeom prst="rect">
            <a:avLst/>
          </a:prstGeom>
          <a:solidFill>
            <a:srgbClr val="E8F5E9"/>
          </a:solidFill>
          <a:ln/>
        </p:spPr>
      </p:sp>
      <p:sp>
        <p:nvSpPr>
          <p:cNvPr id="24" name="Text 19"/>
          <p:cNvSpPr/>
          <p:nvPr/>
        </p:nvSpPr>
        <p:spPr>
          <a:xfrm>
            <a:off x="640080" y="480060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SF9 → гэр хороолол 2 км хүртэл 18 dB link margin = найдвартай!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1A237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237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СИСТЕМИЙН АРХИТЕКТУР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749808"/>
            <a:ext cx="2011680" cy="32004"/>
          </a:xfrm>
          <a:prstGeom prst="rect">
            <a:avLst/>
          </a:prstGeom>
          <a:solidFill>
            <a:srgbClr val="D32F2F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914400"/>
            <a:ext cx="8595360" cy="2286000"/>
          </a:xfrm>
          <a:prstGeom prst="rect">
            <a:avLst/>
          </a:prstGeom>
        </p:spPr>
      </p:pic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3200400"/>
            <a:ext cx="2286000" cy="1828800"/>
          </a:xfrm>
          <a:prstGeom prst="rect">
            <a:avLst/>
          </a:prstGeom>
        </p:spPr>
      </p:pic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91840" y="3200400"/>
            <a:ext cx="2286000" cy="1645920"/>
          </a:xfrm>
          <a:prstGeom prst="rect">
            <a:avLst/>
          </a:prstGeom>
        </p:spPr>
      </p:pic>
      <p:pic>
        <p:nvPicPr>
          <p:cNvPr id="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7920" y="3200400"/>
            <a:ext cx="2560320" cy="18288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1A237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237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FACP ИНТЕГРАЦИ &amp; ИЛРҮҮЛЭЛТ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749808"/>
            <a:ext cx="2194560" cy="32004"/>
          </a:xfrm>
          <a:prstGeom prst="rect">
            <a:avLst/>
          </a:prstGeom>
          <a:solidFill>
            <a:srgbClr val="D32F2F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914400"/>
            <a:ext cx="2926080" cy="2377440"/>
          </a:xfrm>
          <a:prstGeom prst="rect">
            <a:avLst/>
          </a:prstGeom>
        </p:spPr>
      </p:pic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4720" y="1005840"/>
            <a:ext cx="5303520" cy="210312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457200" y="3474720"/>
            <a:ext cx="1920240" cy="640080"/>
          </a:xfrm>
          <a:prstGeom prst="rect">
            <a:avLst/>
          </a:prstGeom>
          <a:solidFill>
            <a:srgbClr val="F5F7FA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8" name="Shape 4"/>
          <p:cNvSpPr/>
          <p:nvPr/>
        </p:nvSpPr>
        <p:spPr>
          <a:xfrm>
            <a:off x="502920" y="3520440"/>
            <a:ext cx="365760" cy="365760"/>
          </a:xfrm>
          <a:prstGeom prst="ellipse">
            <a:avLst/>
          </a:prstGeom>
          <a:solidFill>
            <a:srgbClr val="D32F2F"/>
          </a:solidFill>
          <a:ln/>
        </p:spPr>
      </p:sp>
      <p:sp>
        <p:nvSpPr>
          <p:cNvPr id="9" name="Text 5"/>
          <p:cNvSpPr/>
          <p:nvPr/>
        </p:nvSpPr>
        <p:spPr>
          <a:xfrm>
            <a:off x="502920" y="35204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0" name="Text 6"/>
          <p:cNvSpPr/>
          <p:nvPr/>
        </p:nvSpPr>
        <p:spPr>
          <a:xfrm>
            <a:off x="914400" y="349300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32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FACP Relay</a:t>
            </a:r>
            <a:endParaRPr lang="en-US" sz="1000" dirty="0"/>
          </a:p>
        </p:txBody>
      </p:sp>
      <p:sp>
        <p:nvSpPr>
          <p:cNvPr id="11" name="Text 7"/>
          <p:cNvSpPr/>
          <p:nvPr/>
        </p:nvSpPr>
        <p:spPr>
          <a:xfrm>
            <a:off x="914400" y="3767328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contact хаагдана</a:t>
            </a:r>
            <a:endParaRPr lang="en-US" sz="900" dirty="0"/>
          </a:p>
        </p:txBody>
      </p:sp>
      <p:sp>
        <p:nvSpPr>
          <p:cNvPr id="12" name="Shape 8"/>
          <p:cNvSpPr/>
          <p:nvPr/>
        </p:nvSpPr>
        <p:spPr>
          <a:xfrm>
            <a:off x="2606040" y="3474720"/>
            <a:ext cx="1920240" cy="640080"/>
          </a:xfrm>
          <a:prstGeom prst="rect">
            <a:avLst/>
          </a:prstGeom>
          <a:solidFill>
            <a:srgbClr val="F5F7FA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2651760" y="3520440"/>
            <a:ext cx="365760" cy="365760"/>
          </a:xfrm>
          <a:prstGeom prst="ellipse">
            <a:avLst/>
          </a:prstGeom>
          <a:solidFill>
            <a:srgbClr val="F57F17"/>
          </a:solidFill>
          <a:ln/>
        </p:spPr>
      </p:sp>
      <p:sp>
        <p:nvSpPr>
          <p:cNvPr id="14" name="Text 10"/>
          <p:cNvSpPr/>
          <p:nvPr/>
        </p:nvSpPr>
        <p:spPr>
          <a:xfrm>
            <a:off x="2651760" y="35204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5" name="Text 11"/>
          <p:cNvSpPr/>
          <p:nvPr/>
        </p:nvSpPr>
        <p:spPr>
          <a:xfrm>
            <a:off x="3063240" y="349300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7F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PC817 Optocoupler</a:t>
            </a:r>
            <a:endParaRPr lang="en-US" sz="1000" dirty="0"/>
          </a:p>
        </p:txBody>
      </p:sp>
      <p:sp>
        <p:nvSpPr>
          <p:cNvPr id="16" name="Text 12"/>
          <p:cNvSpPr/>
          <p:nvPr/>
        </p:nvSpPr>
        <p:spPr>
          <a:xfrm>
            <a:off x="3063240" y="3767328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Galvanic isolation</a:t>
            </a:r>
            <a:endParaRPr lang="en-US" sz="900" dirty="0"/>
          </a:p>
        </p:txBody>
      </p:sp>
      <p:sp>
        <p:nvSpPr>
          <p:cNvPr id="17" name="Shape 13"/>
          <p:cNvSpPr/>
          <p:nvPr/>
        </p:nvSpPr>
        <p:spPr>
          <a:xfrm>
            <a:off x="4754880" y="3474720"/>
            <a:ext cx="1920240" cy="640080"/>
          </a:xfrm>
          <a:prstGeom prst="rect">
            <a:avLst/>
          </a:prstGeom>
          <a:solidFill>
            <a:srgbClr val="F5F7FA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4800600" y="3520440"/>
            <a:ext cx="365760" cy="365760"/>
          </a:xfrm>
          <a:prstGeom prst="ellipse">
            <a:avLst/>
          </a:prstGeom>
          <a:solidFill>
            <a:srgbClr val="1565C0"/>
          </a:solidFill>
          <a:ln/>
        </p:spPr>
      </p:sp>
      <p:sp>
        <p:nvSpPr>
          <p:cNvPr id="19" name="Text 15"/>
          <p:cNvSpPr/>
          <p:nvPr/>
        </p:nvSpPr>
        <p:spPr>
          <a:xfrm>
            <a:off x="4800600" y="35204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0" name="Text 16"/>
          <p:cNvSpPr/>
          <p:nvPr/>
        </p:nvSpPr>
        <p:spPr>
          <a:xfrm>
            <a:off x="5212080" y="349300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MCU = LOW</a:t>
            </a:r>
            <a:endParaRPr lang="en-US" sz="1000" dirty="0"/>
          </a:p>
        </p:txBody>
      </p:sp>
      <p:sp>
        <p:nvSpPr>
          <p:cNvPr id="21" name="Text 17"/>
          <p:cNvSpPr/>
          <p:nvPr/>
        </p:nvSpPr>
        <p:spPr>
          <a:xfrm>
            <a:off x="5212080" y="3767328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alarm flag = 0xFF</a:t>
            </a:r>
            <a:endParaRPr lang="en-US" sz="900" dirty="0"/>
          </a:p>
        </p:txBody>
      </p:sp>
      <p:sp>
        <p:nvSpPr>
          <p:cNvPr id="22" name="Shape 18"/>
          <p:cNvSpPr/>
          <p:nvPr/>
        </p:nvSpPr>
        <p:spPr>
          <a:xfrm>
            <a:off x="6903720" y="3474720"/>
            <a:ext cx="1920240" cy="640080"/>
          </a:xfrm>
          <a:prstGeom prst="rect">
            <a:avLst/>
          </a:prstGeom>
          <a:solidFill>
            <a:srgbClr val="F5F7FA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3" name="Shape 19"/>
          <p:cNvSpPr/>
          <p:nvPr/>
        </p:nvSpPr>
        <p:spPr>
          <a:xfrm>
            <a:off x="6949440" y="3520440"/>
            <a:ext cx="365760" cy="365760"/>
          </a:xfrm>
          <a:prstGeom prst="ellipse">
            <a:avLst/>
          </a:prstGeom>
          <a:solidFill>
            <a:srgbClr val="2E7D32"/>
          </a:solidFill>
          <a:ln/>
        </p:spPr>
      </p:sp>
      <p:sp>
        <p:nvSpPr>
          <p:cNvPr id="24" name="Text 20"/>
          <p:cNvSpPr/>
          <p:nvPr/>
        </p:nvSpPr>
        <p:spPr>
          <a:xfrm>
            <a:off x="6949440" y="35204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5" name="Text 21"/>
          <p:cNvSpPr/>
          <p:nvPr/>
        </p:nvSpPr>
        <p:spPr>
          <a:xfrm>
            <a:off x="7360920" y="349300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LoRa → ОБЕГ</a:t>
            </a:r>
            <a:endParaRPr lang="en-US" sz="1000" dirty="0"/>
          </a:p>
        </p:txBody>
      </p:sp>
      <p:sp>
        <p:nvSpPr>
          <p:cNvPr id="26" name="Text 22"/>
          <p:cNvSpPr/>
          <p:nvPr/>
        </p:nvSpPr>
        <p:spPr>
          <a:xfrm>
            <a:off x="7360920" y="3767328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Мэдэгдэл илгээнэ</a:t>
            </a:r>
            <a:endParaRPr lang="en-US" sz="900" dirty="0"/>
          </a:p>
        </p:txBody>
      </p:sp>
      <p:sp>
        <p:nvSpPr>
          <p:cNvPr id="27" name="Shape 23"/>
          <p:cNvSpPr/>
          <p:nvPr/>
        </p:nvSpPr>
        <p:spPr>
          <a:xfrm>
            <a:off x="457200" y="4297680"/>
            <a:ext cx="8229600" cy="685800"/>
          </a:xfrm>
          <a:prstGeom prst="rect">
            <a:avLst/>
          </a:prstGeom>
          <a:solidFill>
            <a:srgbClr val="E8F5E9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pic>
        <p:nvPicPr>
          <p:cNvPr id="2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4370832"/>
            <a:ext cx="274320" cy="274320"/>
          </a:xfrm>
          <a:prstGeom prst="rect">
            <a:avLst/>
          </a:prstGeom>
        </p:spPr>
      </p:pic>
      <p:sp>
        <p:nvSpPr>
          <p:cNvPr id="29" name="Text 24"/>
          <p:cNvSpPr/>
          <p:nvPr/>
        </p:nvSpPr>
        <p:spPr>
          <a:xfrm>
            <a:off x="960120" y="437083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Нэмэлт: Ойн түймрийн сенсор</a:t>
            </a:r>
            <a:endParaRPr lang="en-US" sz="1100" dirty="0"/>
          </a:p>
        </p:txBody>
      </p:sp>
      <p:pic>
        <p:nvPicPr>
          <p:cNvPr id="3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7600" y="4251960"/>
            <a:ext cx="4846320" cy="7315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1A237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237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HARDWARE &amp; ӨРТӨГ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749808"/>
            <a:ext cx="1645920" cy="32004"/>
          </a:xfrm>
          <a:prstGeom prst="rect">
            <a:avLst/>
          </a:prstGeom>
          <a:solidFill>
            <a:srgbClr val="D32F2F"/>
          </a:solidFill>
          <a:ln/>
        </p:spPr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914400"/>
          <a:ext cx="5029200" cy="1828800"/>
        </p:xfrm>
        <a:graphic>
          <a:graphicData uri="http://schemas.openxmlformats.org/drawingml/2006/table">
            <a:tbl>
              <a:tblPr/>
              <a:tblGrid>
                <a:gridCol w="1097280"/>
                <a:gridCol w="1554480"/>
                <a:gridCol w="1280160"/>
                <a:gridCol w="1097280"/>
              </a:tblGrid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Компонент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Загвар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Үүрэг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Үнэ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63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MCU + LoRa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63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Heltec WiFi LoRa 32 V3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63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ESP32-S3 + SX1262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63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80–120k₮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63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Optocoupler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63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PC817 ×2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63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FACP relay isolation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63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5k₮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63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Темп+Чийг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63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DHT22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63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Ойн хэмжилт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63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15k₮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63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Утаа/CO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63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MQ-135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63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Гал илрүүлэх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63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20k₮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63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Батерей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63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18650 ×2 + TP4056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63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Тэжээл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63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30k₮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63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Gateway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63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RAK7268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63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8-ch LoRaWAN GW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63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400–600k₮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60720" y="914400"/>
            <a:ext cx="1828800" cy="1371600"/>
          </a:xfrm>
          <a:prstGeom prst="rect">
            <a:avLst/>
          </a:prstGeom>
        </p:spPr>
      </p:pic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0" y="1371600"/>
            <a:ext cx="2103120" cy="1463040"/>
          </a:xfrm>
          <a:prstGeom prst="rect">
            <a:avLst/>
          </a:prstGeom>
        </p:spPr>
      </p:pic>
      <p:sp>
        <p:nvSpPr>
          <p:cNvPr id="8" name="Shape 3"/>
          <p:cNvSpPr/>
          <p:nvPr/>
        </p:nvSpPr>
        <p:spPr>
          <a:xfrm>
            <a:off x="457200" y="3017520"/>
            <a:ext cx="2606040" cy="1097280"/>
          </a:xfrm>
          <a:prstGeom prst="rect">
            <a:avLst/>
          </a:prstGeom>
          <a:solidFill>
            <a:srgbClr val="E8F5E9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Text 4"/>
          <p:cNvSpPr/>
          <p:nvPr/>
        </p:nvSpPr>
        <p:spPr>
          <a:xfrm>
            <a:off x="457200" y="3035808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E7D3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155k₮</a:t>
            </a:r>
            <a:endParaRPr lang="en-US" sz="2600" dirty="0"/>
          </a:p>
        </p:txBody>
      </p:sp>
      <p:sp>
        <p:nvSpPr>
          <p:cNvPr id="10" name="Text 5"/>
          <p:cNvSpPr/>
          <p:nvPr/>
        </p:nvSpPr>
        <p:spPr>
          <a:xfrm>
            <a:off x="457200" y="3493008"/>
            <a:ext cx="2606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Барилгын 1 node (~$43)</a:t>
            </a:r>
            <a:endParaRPr lang="en-US" sz="900" dirty="0"/>
          </a:p>
        </p:txBody>
      </p:sp>
      <p:sp>
        <p:nvSpPr>
          <p:cNvPr id="11" name="Text 6"/>
          <p:cNvSpPr/>
          <p:nvPr/>
        </p:nvSpPr>
        <p:spPr>
          <a:xfrm>
            <a:off x="457200" y="3730752"/>
            <a:ext cx="2606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Сарын төлбөргүй!</a:t>
            </a:r>
            <a:endParaRPr lang="en-US" sz="900" dirty="0"/>
          </a:p>
        </p:txBody>
      </p:sp>
      <p:sp>
        <p:nvSpPr>
          <p:cNvPr id="12" name="Shape 7"/>
          <p:cNvSpPr/>
          <p:nvPr/>
        </p:nvSpPr>
        <p:spPr>
          <a:xfrm>
            <a:off x="3291840" y="3017520"/>
            <a:ext cx="2606040" cy="1097280"/>
          </a:xfrm>
          <a:prstGeom prst="rect">
            <a:avLst/>
          </a:prstGeom>
          <a:solidFill>
            <a:srgbClr val="E3F2FD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Text 8"/>
          <p:cNvSpPr/>
          <p:nvPr/>
        </p:nvSpPr>
        <p:spPr>
          <a:xfrm>
            <a:off x="3291840" y="3035808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565C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200k₮</a:t>
            </a:r>
            <a:endParaRPr lang="en-US" sz="2600" dirty="0"/>
          </a:p>
        </p:txBody>
      </p:sp>
      <p:sp>
        <p:nvSpPr>
          <p:cNvPr id="14" name="Text 9"/>
          <p:cNvSpPr/>
          <p:nvPr/>
        </p:nvSpPr>
        <p:spPr>
          <a:xfrm>
            <a:off x="3291840" y="3493008"/>
            <a:ext cx="2606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Ойн 1 node (~$55)</a:t>
            </a:r>
            <a:endParaRPr lang="en-US" sz="900" dirty="0"/>
          </a:p>
        </p:txBody>
      </p:sp>
      <p:sp>
        <p:nvSpPr>
          <p:cNvPr id="15" name="Text 10"/>
          <p:cNvSpPr/>
          <p:nvPr/>
        </p:nvSpPr>
        <p:spPr>
          <a:xfrm>
            <a:off x="3291840" y="3730752"/>
            <a:ext cx="2606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Нэмэлт сенсоруудтай</a:t>
            </a:r>
            <a:endParaRPr lang="en-US" sz="900" dirty="0"/>
          </a:p>
        </p:txBody>
      </p:sp>
      <p:sp>
        <p:nvSpPr>
          <p:cNvPr id="16" name="Shape 11"/>
          <p:cNvSpPr/>
          <p:nvPr/>
        </p:nvSpPr>
        <p:spPr>
          <a:xfrm>
            <a:off x="6126480" y="3017520"/>
            <a:ext cx="2606040" cy="1097280"/>
          </a:xfrm>
          <a:prstGeom prst="rect">
            <a:avLst/>
          </a:prstGeom>
          <a:solidFill>
            <a:srgbClr val="FFF3E0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Text 12"/>
          <p:cNvSpPr/>
          <p:nvPr/>
        </p:nvSpPr>
        <p:spPr>
          <a:xfrm>
            <a:off x="6126480" y="3035808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57F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400-600k₮</a:t>
            </a:r>
            <a:endParaRPr lang="en-US" sz="2600" dirty="0"/>
          </a:p>
        </p:txBody>
      </p:sp>
      <p:sp>
        <p:nvSpPr>
          <p:cNvPr id="18" name="Text 13"/>
          <p:cNvSpPr/>
          <p:nvPr/>
        </p:nvSpPr>
        <p:spPr>
          <a:xfrm>
            <a:off x="6126480" y="3493008"/>
            <a:ext cx="2606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Gateway</a:t>
            </a:r>
            <a:endParaRPr lang="en-US" sz="900" dirty="0"/>
          </a:p>
        </p:txBody>
      </p:sp>
      <p:sp>
        <p:nvSpPr>
          <p:cNvPr id="19" name="Text 14"/>
          <p:cNvSpPr/>
          <p:nvPr/>
        </p:nvSpPr>
        <p:spPr>
          <a:xfrm>
            <a:off x="6126480" y="3730752"/>
            <a:ext cx="2606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57F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40+ node үйлчилнэ</a:t>
            </a:r>
            <a:endParaRPr lang="en-US" sz="900" dirty="0"/>
          </a:p>
        </p:txBody>
      </p:sp>
      <p:sp>
        <p:nvSpPr>
          <p:cNvPr id="20" name="Shape 15"/>
          <p:cNvSpPr/>
          <p:nvPr/>
        </p:nvSpPr>
        <p:spPr>
          <a:xfrm>
            <a:off x="457200" y="4343400"/>
            <a:ext cx="8229600" cy="640080"/>
          </a:xfrm>
          <a:prstGeom prst="rect">
            <a:avLst/>
          </a:prstGeom>
          <a:solidFill>
            <a:srgbClr val="F5F7FA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4370832"/>
            <a:ext cx="4114800" cy="54864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4846320" y="4370832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SF9: 36 / 0.144 / 6 ≈ 41 node / GW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1A237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237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ТУРШИЛТЫН ТӨЛӨВЛӨГӨӨ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749808"/>
            <a:ext cx="2011680" cy="32004"/>
          </a:xfrm>
          <a:prstGeom prst="rect">
            <a:avLst/>
          </a:prstGeom>
          <a:solidFill>
            <a:srgbClr val="D32F2F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960120"/>
            <a:ext cx="2606040" cy="1188720"/>
          </a:xfrm>
          <a:prstGeom prst="rect">
            <a:avLst/>
          </a:prstGeom>
          <a:solidFill>
            <a:srgbClr val="FFEBEE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7200" y="100584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32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Хот дотор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1280160"/>
            <a:ext cx="2606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Олон давхар барилга</a:t>
            </a:r>
            <a:endParaRPr lang="en-US" sz="10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100–1000м</a:t>
            </a:r>
            <a:endParaRPr lang="en-US" sz="10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≈ 3.3–3.8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291840" y="960120"/>
            <a:ext cx="2606040" cy="1188720"/>
          </a:xfrm>
          <a:prstGeom prst="rect">
            <a:avLst/>
          </a:prstGeom>
          <a:solidFill>
            <a:srgbClr val="E3F2FD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291840" y="100584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Гэр хороолол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291840" y="1280160"/>
            <a:ext cx="2606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Бага давхар, хашаа</a:t>
            </a:r>
            <a:endParaRPr lang="en-US" sz="10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200–2000м</a:t>
            </a:r>
            <a:endParaRPr lang="en-US" sz="10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≈ 2.8–3.3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126480" y="960120"/>
            <a:ext cx="2606040" cy="1188720"/>
          </a:xfrm>
          <a:prstGeom prst="rect">
            <a:avLst/>
          </a:prstGeom>
          <a:solidFill>
            <a:srgbClr val="E8F5E9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126480" y="100584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Нээлттэй талбай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126480" y="1280160"/>
            <a:ext cx="2606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нөхцөл</a:t>
            </a:r>
            <a:endParaRPr lang="en-US" sz="10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500–5000м</a:t>
            </a:r>
            <a:endParaRPr lang="en-US" sz="10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≈ 2.0–2.5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23317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Туршилтын алхам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" y="2697480"/>
            <a:ext cx="2606040" cy="457200"/>
          </a:xfrm>
          <a:prstGeom prst="rect">
            <a:avLst/>
          </a:prstGeom>
          <a:solidFill>
            <a:srgbClr val="F5F7FA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30352" y="2770632"/>
            <a:ext cx="310896" cy="310896"/>
          </a:xfrm>
          <a:prstGeom prst="ellipse">
            <a:avLst/>
          </a:prstGeom>
          <a:solidFill>
            <a:srgbClr val="1A237E"/>
          </a:solidFill>
          <a:ln/>
        </p:spPr>
      </p:sp>
      <p:sp>
        <p:nvSpPr>
          <p:cNvPr id="17" name="Text 15"/>
          <p:cNvSpPr/>
          <p:nvPr/>
        </p:nvSpPr>
        <p:spPr>
          <a:xfrm>
            <a:off x="530352" y="277063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914400" y="269748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GW суурилуулах (~15м)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291840" y="2697480"/>
            <a:ext cx="2606040" cy="457200"/>
          </a:xfrm>
          <a:prstGeom prst="rect">
            <a:avLst/>
          </a:prstGeom>
          <a:solidFill>
            <a:srgbClr val="F5F7FA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364992" y="2770632"/>
            <a:ext cx="310896" cy="310896"/>
          </a:xfrm>
          <a:prstGeom prst="ellipse">
            <a:avLst/>
          </a:prstGeom>
          <a:solidFill>
            <a:srgbClr val="1A237E"/>
          </a:solidFill>
          <a:ln/>
        </p:spPr>
      </p:sp>
      <p:sp>
        <p:nvSpPr>
          <p:cNvPr id="21" name="Text 19"/>
          <p:cNvSpPr/>
          <p:nvPr/>
        </p:nvSpPr>
        <p:spPr>
          <a:xfrm>
            <a:off x="3364992" y="277063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749040" y="269748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 байрлуулах (100–3000м)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126480" y="2697480"/>
            <a:ext cx="2606040" cy="457200"/>
          </a:xfrm>
          <a:prstGeom prst="rect">
            <a:avLst/>
          </a:prstGeom>
          <a:solidFill>
            <a:srgbClr val="F5F7FA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199632" y="2770632"/>
            <a:ext cx="310896" cy="310896"/>
          </a:xfrm>
          <a:prstGeom prst="ellipse">
            <a:avLst/>
          </a:prstGeom>
          <a:solidFill>
            <a:srgbClr val="1A237E"/>
          </a:solidFill>
          <a:ln/>
        </p:spPr>
      </p:sp>
      <p:sp>
        <p:nvSpPr>
          <p:cNvPr id="25" name="Text 23"/>
          <p:cNvSpPr/>
          <p:nvPr/>
        </p:nvSpPr>
        <p:spPr>
          <a:xfrm>
            <a:off x="6199632" y="277063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583680" y="269748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SF7, SF9, SF10, SF12 × 100 пакет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57200" y="3291840"/>
            <a:ext cx="2606040" cy="457200"/>
          </a:xfrm>
          <a:prstGeom prst="rect">
            <a:avLst/>
          </a:prstGeom>
          <a:solidFill>
            <a:srgbClr val="F5F7FA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530352" y="3364992"/>
            <a:ext cx="310896" cy="310896"/>
          </a:xfrm>
          <a:prstGeom prst="ellipse">
            <a:avLst/>
          </a:prstGeom>
          <a:solidFill>
            <a:srgbClr val="1A237E"/>
          </a:solidFill>
          <a:ln/>
        </p:spPr>
      </p:sp>
      <p:sp>
        <p:nvSpPr>
          <p:cNvPr id="29" name="Text 27"/>
          <p:cNvSpPr/>
          <p:nvPr/>
        </p:nvSpPr>
        <p:spPr>
          <a:xfrm>
            <a:off x="530352" y="336499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914400" y="329184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PDR, RSSI, SNR бүртгэх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3291840" y="3291840"/>
            <a:ext cx="2606040" cy="457200"/>
          </a:xfrm>
          <a:prstGeom prst="rect">
            <a:avLst/>
          </a:prstGeom>
          <a:solidFill>
            <a:srgbClr val="F5F7FA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3364992" y="3364992"/>
            <a:ext cx="310896" cy="310896"/>
          </a:xfrm>
          <a:prstGeom prst="ellipse">
            <a:avLst/>
          </a:prstGeom>
          <a:solidFill>
            <a:srgbClr val="1A237E"/>
          </a:solidFill>
          <a:ln/>
        </p:spPr>
      </p:sp>
      <p:sp>
        <p:nvSpPr>
          <p:cNvPr id="33" name="Text 31"/>
          <p:cNvSpPr/>
          <p:nvPr/>
        </p:nvSpPr>
        <p:spPr>
          <a:xfrm>
            <a:off x="3364992" y="336499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3749040" y="329184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Alarm → ОБЕГ latency хэмжих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6126480" y="3291840"/>
            <a:ext cx="2606040" cy="457200"/>
          </a:xfrm>
          <a:prstGeom prst="rect">
            <a:avLst/>
          </a:prstGeom>
          <a:solidFill>
            <a:srgbClr val="F5F7FA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6199632" y="3364992"/>
            <a:ext cx="310896" cy="310896"/>
          </a:xfrm>
          <a:prstGeom prst="ellipse">
            <a:avLst/>
          </a:prstGeom>
          <a:solidFill>
            <a:srgbClr val="1A237E"/>
          </a:solidFill>
          <a:ln/>
        </p:spPr>
      </p:sp>
      <p:sp>
        <p:nvSpPr>
          <p:cNvPr id="37" name="Text 35"/>
          <p:cNvSpPr/>
          <p:nvPr/>
        </p:nvSpPr>
        <p:spPr>
          <a:xfrm>
            <a:off x="6199632" y="336499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6583680" y="329184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INA219 батарей хэмжилт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457200" y="402336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Хүлээгдэж буй үр дүн (гэр хорооллын орчин)</a:t>
            </a:r>
            <a:endParaRPr lang="en-US" sz="11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4297680"/>
          <a:ext cx="8229600" cy="777240"/>
        </p:xfrm>
        <a:graphic>
          <a:graphicData uri="http://schemas.openxmlformats.org/drawingml/2006/table">
            <a:tbl>
              <a:tblPr/>
              <a:tblGrid>
                <a:gridCol w="548640"/>
                <a:gridCol w="914400"/>
                <a:gridCol w="822960"/>
                <a:gridCol w="914400"/>
                <a:gridCol w="1097280"/>
                <a:gridCol w="3931920"/>
              </a:tblGrid>
              <a:tr h="2286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SF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Зай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PDR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ToA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Энерги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Хэрэглээ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63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63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500м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63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&gt;95%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63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41 мс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63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~5 mAh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63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Ойрын GW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D32F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263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1–2 км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2E7D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&gt;85%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263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144 мс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263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~14 mAh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D32F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Гэр хороолол ★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63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63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 км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63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&gt;75%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63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991 мс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63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~45 mAh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63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Нээлттэй/ой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1A237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237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ДҮГНЭЛТ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749808"/>
            <a:ext cx="1097280" cy="32004"/>
          </a:xfrm>
          <a:prstGeom prst="rect">
            <a:avLst/>
          </a:prstGeom>
          <a:solidFill>
            <a:srgbClr val="D32F2F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960120"/>
            <a:ext cx="8229600" cy="621792"/>
          </a:xfrm>
          <a:prstGeom prst="rect">
            <a:avLst/>
          </a:prstGeom>
          <a:solidFill>
            <a:srgbClr val="F5F7FA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097280"/>
            <a:ext cx="329184" cy="32918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143000" y="98755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LoRaWAN тохиромжтой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1143000" y="1261872"/>
            <a:ext cx="7223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Хол зай, бага өртөг, сарын төлбөргүй — Улаанбаатарын галын дохиоллын системд маш тохиромжтой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457200" y="1691640"/>
            <a:ext cx="8229600" cy="621792"/>
          </a:xfrm>
          <a:prstGeom prst="rect">
            <a:avLst/>
          </a:prstGeom>
          <a:solidFill>
            <a:srgbClr val="F5F7FA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828800"/>
            <a:ext cx="329184" cy="329184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143000" y="171907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SF9 оновчтой</a:t>
            </a:r>
            <a:endParaRPr lang="en-US" sz="1200" dirty="0"/>
          </a:p>
        </p:txBody>
      </p:sp>
      <p:sp>
        <p:nvSpPr>
          <p:cNvPr id="12" name="Text 8"/>
          <p:cNvSpPr/>
          <p:nvPr/>
        </p:nvSpPr>
        <p:spPr>
          <a:xfrm>
            <a:off x="1143000" y="1993392"/>
            <a:ext cx="7223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Гэр хорооллын орчинд 2 км хүртэл 18 dB link margin, PDR &gt;85%</a:t>
            </a:r>
            <a:endParaRPr lang="en-US" sz="1050" dirty="0"/>
          </a:p>
        </p:txBody>
      </p:sp>
      <p:sp>
        <p:nvSpPr>
          <p:cNvPr id="13" name="Shape 9"/>
          <p:cNvSpPr/>
          <p:nvPr/>
        </p:nvSpPr>
        <p:spPr>
          <a:xfrm>
            <a:off x="457200" y="2423160"/>
            <a:ext cx="8229600" cy="621792"/>
          </a:xfrm>
          <a:prstGeom prst="rect">
            <a:avLst/>
          </a:prstGeom>
          <a:solidFill>
            <a:srgbClr val="F5F7FA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2560320"/>
            <a:ext cx="329184" cy="329184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143000" y="245059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40+ node 1 GW-ээр</a:t>
            </a:r>
            <a:endParaRPr lang="en-US" sz="1200" dirty="0"/>
          </a:p>
        </p:txBody>
      </p:sp>
      <p:sp>
        <p:nvSpPr>
          <p:cNvPr id="16" name="Text 11"/>
          <p:cNvSpPr/>
          <p:nvPr/>
        </p:nvSpPr>
        <p:spPr>
          <a:xfrm>
            <a:off x="1143000" y="2724912"/>
            <a:ext cx="7223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Duty cycle тооцоогоор SF9 ашиглавал нэг gateway 40+ барилга үйлчлэх боломжтой</a:t>
            </a:r>
            <a:endParaRPr lang="en-US" sz="1050" dirty="0"/>
          </a:p>
        </p:txBody>
      </p:sp>
      <p:sp>
        <p:nvSpPr>
          <p:cNvPr id="17" name="Shape 12"/>
          <p:cNvSpPr/>
          <p:nvPr/>
        </p:nvSpPr>
        <p:spPr>
          <a:xfrm>
            <a:off x="457200" y="3154680"/>
            <a:ext cx="8229600" cy="621792"/>
          </a:xfrm>
          <a:prstGeom prst="rect">
            <a:avLst/>
          </a:prstGeom>
          <a:solidFill>
            <a:srgbClr val="F5F7FA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3291840"/>
            <a:ext cx="329184" cy="329184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143000" y="318211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Хямд өртөг</a:t>
            </a:r>
            <a:endParaRPr lang="en-US" sz="1200" dirty="0"/>
          </a:p>
        </p:txBody>
      </p:sp>
      <p:sp>
        <p:nvSpPr>
          <p:cNvPr id="20" name="Text 14"/>
          <p:cNvSpPr/>
          <p:nvPr/>
        </p:nvSpPr>
        <p:spPr>
          <a:xfrm>
            <a:off x="1143000" y="3456432"/>
            <a:ext cx="7223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Нэг node ~155k₮, GSM модемтой харьцуулахад 1 жилд нөхөгдөнө</a:t>
            </a:r>
            <a:endParaRPr lang="en-US" sz="1050" dirty="0"/>
          </a:p>
        </p:txBody>
      </p:sp>
      <p:sp>
        <p:nvSpPr>
          <p:cNvPr id="21" name="Shape 15"/>
          <p:cNvSpPr/>
          <p:nvPr/>
        </p:nvSpPr>
        <p:spPr>
          <a:xfrm>
            <a:off x="457200" y="3886200"/>
            <a:ext cx="8229600" cy="621792"/>
          </a:xfrm>
          <a:prstGeom prst="rect">
            <a:avLst/>
          </a:prstGeom>
          <a:solidFill>
            <a:srgbClr val="F5F7FA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" y="4023360"/>
            <a:ext cx="329184" cy="329184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1143000" y="391363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Ойн модуль</a:t>
            </a:r>
            <a:endParaRPr lang="en-US" sz="1200" dirty="0"/>
          </a:p>
        </p:txBody>
      </p:sp>
      <p:sp>
        <p:nvSpPr>
          <p:cNvPr id="24" name="Text 17"/>
          <p:cNvSpPr/>
          <p:nvPr/>
        </p:nvSpPr>
        <p:spPr>
          <a:xfrm>
            <a:off x="1143000" y="4187952"/>
            <a:ext cx="7223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Ижил gateway дэд бүтцээр ойн түймрийн илрүүлэлт өргөтгөх боломжтой</a:t>
            </a:r>
            <a:endParaRPr lang="en-US" sz="1050" dirty="0"/>
          </a:p>
        </p:txBody>
      </p:sp>
      <p:sp>
        <p:nvSpPr>
          <p:cNvPr id="25" name="Shape 18"/>
          <p:cNvSpPr/>
          <p:nvPr/>
        </p:nvSpPr>
        <p:spPr>
          <a:xfrm>
            <a:off x="457200" y="4617720"/>
            <a:ext cx="8229600" cy="365760"/>
          </a:xfrm>
          <a:prstGeom prst="rect">
            <a:avLst/>
          </a:prstGeom>
          <a:solidFill>
            <a:srgbClr val="FFEBEE"/>
          </a:solidFill>
          <a:ln/>
        </p:spPr>
      </p:sp>
      <p:sp>
        <p:nvSpPr>
          <p:cNvPr id="26" name="Text 19"/>
          <p:cNvSpPr/>
          <p:nvPr/>
        </p:nvSpPr>
        <p:spPr>
          <a:xfrm>
            <a:off x="640080" y="461772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32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Хязгаарлалт: Бодит туршилт хийгдээгүй  •  Өвөлд батарей 20-30% буурна  •  Олон node collision эрсдэл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1A237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237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ЦААШДЫН ЧИГЛЭЛ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749808"/>
            <a:ext cx="1645920" cy="32004"/>
          </a:xfrm>
          <a:prstGeom prst="rect">
            <a:avLst/>
          </a:prstGeom>
          <a:solidFill>
            <a:srgbClr val="D32F2F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005840"/>
            <a:ext cx="4023360" cy="1005840"/>
          </a:xfrm>
          <a:prstGeom prst="rect">
            <a:avLst/>
          </a:prstGeom>
          <a:solidFill>
            <a:srgbClr val="F5F7FA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94360" y="1280160"/>
            <a:ext cx="457200" cy="457200"/>
          </a:xfrm>
          <a:prstGeom prst="ellipse">
            <a:avLst/>
          </a:prstGeom>
          <a:solidFill>
            <a:srgbClr val="D32F2F"/>
          </a:solidFill>
          <a:ln/>
        </p:spPr>
      </p:sp>
      <p:sp>
        <p:nvSpPr>
          <p:cNvPr id="7" name="Text 5"/>
          <p:cNvSpPr/>
          <p:nvPr/>
        </p:nvSpPr>
        <p:spPr>
          <a:xfrm>
            <a:off x="594360" y="1280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188720" y="114300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Бодит туршилт хийх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188720" y="150876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орчинд баталгаажуулах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754880" y="1005840"/>
            <a:ext cx="4023360" cy="1005840"/>
          </a:xfrm>
          <a:prstGeom prst="rect">
            <a:avLst/>
          </a:prstGeom>
          <a:solidFill>
            <a:srgbClr val="F5F7FA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892040" y="1280160"/>
            <a:ext cx="457200" cy="457200"/>
          </a:xfrm>
          <a:prstGeom prst="ellipse">
            <a:avLst/>
          </a:prstGeom>
          <a:solidFill>
            <a:srgbClr val="1565C0"/>
          </a:solidFill>
          <a:ln/>
        </p:spPr>
      </p:sp>
      <p:sp>
        <p:nvSpPr>
          <p:cNvPr id="12" name="Text 10"/>
          <p:cNvSpPr/>
          <p:nvPr/>
        </p:nvSpPr>
        <p:spPr>
          <a:xfrm>
            <a:off x="4892040" y="1280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486400" y="114300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ОБЕГ хамтын ажиллагаа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486400" y="150876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Туршилтын суурилуулалт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7200" y="2240280"/>
            <a:ext cx="4023360" cy="1005840"/>
          </a:xfrm>
          <a:prstGeom prst="rect">
            <a:avLst/>
          </a:prstGeom>
          <a:solidFill>
            <a:srgbClr val="F5F7FA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94360" y="2514600"/>
            <a:ext cx="457200" cy="457200"/>
          </a:xfrm>
          <a:prstGeom prst="ellipse">
            <a:avLst/>
          </a:prstGeom>
          <a:solidFill>
            <a:srgbClr val="2E7D32"/>
          </a:solidFill>
          <a:ln/>
        </p:spPr>
      </p:sp>
      <p:sp>
        <p:nvSpPr>
          <p:cNvPr id="17" name="Text 15"/>
          <p:cNvSpPr/>
          <p:nvPr/>
        </p:nvSpPr>
        <p:spPr>
          <a:xfrm>
            <a:off x="594360" y="2514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188720" y="237744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Нарны зай нэмэх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188720" y="274320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Solar panel тэжээл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754880" y="2240280"/>
            <a:ext cx="4023360" cy="1005840"/>
          </a:xfrm>
          <a:prstGeom prst="rect">
            <a:avLst/>
          </a:prstGeom>
          <a:solidFill>
            <a:srgbClr val="F5F7FA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892040" y="2514600"/>
            <a:ext cx="457200" cy="457200"/>
          </a:xfrm>
          <a:prstGeom prst="ellipse">
            <a:avLst/>
          </a:prstGeom>
          <a:solidFill>
            <a:srgbClr val="00897B"/>
          </a:solidFill>
          <a:ln/>
        </p:spPr>
      </p:sp>
      <p:sp>
        <p:nvSpPr>
          <p:cNvPr id="22" name="Text 20"/>
          <p:cNvSpPr/>
          <p:nvPr/>
        </p:nvSpPr>
        <p:spPr>
          <a:xfrm>
            <a:off x="4892040" y="2514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5486400" y="237744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Mesh/Relay network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486400" y="274320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Coverage хүрээг тэлэх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57200" y="3474720"/>
            <a:ext cx="4023360" cy="1005840"/>
          </a:xfrm>
          <a:prstGeom prst="rect">
            <a:avLst/>
          </a:prstGeom>
          <a:solidFill>
            <a:srgbClr val="F5F7FA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594360" y="3749040"/>
            <a:ext cx="457200" cy="457200"/>
          </a:xfrm>
          <a:prstGeom prst="ellipse">
            <a:avLst/>
          </a:prstGeom>
          <a:solidFill>
            <a:srgbClr val="7B1FA2"/>
          </a:solidFill>
          <a:ln/>
        </p:spPr>
      </p:sp>
      <p:sp>
        <p:nvSpPr>
          <p:cNvPr id="27" name="Text 25"/>
          <p:cNvSpPr/>
          <p:nvPr/>
        </p:nvSpPr>
        <p:spPr>
          <a:xfrm>
            <a:off x="594360" y="3749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1188720" y="361188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AI/ML Anomaly Detection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1188720" y="397764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 alarm багасгах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754880" y="3474720"/>
            <a:ext cx="4023360" cy="1005840"/>
          </a:xfrm>
          <a:prstGeom prst="rect">
            <a:avLst/>
          </a:prstGeom>
          <a:solidFill>
            <a:srgbClr val="F5F7FA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892040" y="3749040"/>
            <a:ext cx="457200" cy="457200"/>
          </a:xfrm>
          <a:prstGeom prst="ellipse">
            <a:avLst/>
          </a:prstGeom>
          <a:solidFill>
            <a:srgbClr val="F57F17"/>
          </a:solidFill>
          <a:ln/>
        </p:spPr>
      </p:sp>
      <p:sp>
        <p:nvSpPr>
          <p:cNvPr id="32" name="Text 30"/>
          <p:cNvSpPr/>
          <p:nvPr/>
        </p:nvSpPr>
        <p:spPr>
          <a:xfrm>
            <a:off x="4892040" y="3749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5486400" y="361188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C горим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5486400" y="397764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Downlink test/reset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A237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32F2F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60520" y="914400"/>
            <a:ext cx="822960" cy="8229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14400" y="192024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БАЯРЛАЛАА!</a:t>
            </a:r>
            <a:endParaRPr lang="en-US" sz="4000" dirty="0"/>
          </a:p>
        </p:txBody>
      </p:sp>
      <p:sp>
        <p:nvSpPr>
          <p:cNvPr id="5" name="Shape 2"/>
          <p:cNvSpPr/>
          <p:nvPr/>
        </p:nvSpPr>
        <p:spPr>
          <a:xfrm>
            <a:off x="3200400" y="2743200"/>
            <a:ext cx="2743200" cy="22860"/>
          </a:xfrm>
          <a:prstGeom prst="rect">
            <a:avLst/>
          </a:prstGeom>
          <a:solidFill>
            <a:srgbClr val="42A5F5"/>
          </a:solidFill>
          <a:ln/>
        </p:spPr>
      </p:sp>
      <p:sp>
        <p:nvSpPr>
          <p:cNvPr id="6" name="Text 3"/>
          <p:cNvSpPr/>
          <p:nvPr/>
        </p:nvSpPr>
        <p:spPr>
          <a:xfrm>
            <a:off x="914400" y="29260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Асуулт &amp; Хариулт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914400" y="365760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Зохиогч: Eddie  |  ШУТИС (MUST)</a:t>
            </a:r>
            <a:endParaRPr lang="en-US" sz="12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F.CN342 RF Transceiver System  |  2026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LoRaWAN-based Remote Fire Alarm Notification System</dc:title>
  <dc:subject>PptxGenJS Presentation</dc:subject>
  <dc:creator>Eddie</dc:creator>
  <cp:lastModifiedBy>Eddie</cp:lastModifiedBy>
  <cp:revision>1</cp:revision>
  <dcterms:created xsi:type="dcterms:W3CDTF">2026-02-25T07:55:47Z</dcterms:created>
  <dcterms:modified xsi:type="dcterms:W3CDTF">2026-02-25T07:55:47Z</dcterms:modified>
</cp:coreProperties>
</file>